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2" r:id="rId7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</p:embeddedFont>
    <p:embeddedFont>
      <p:font typeface="Calibri (MS)" panose="020B0604020202020204" charset="0"/>
      <p:regular r:id="rId11"/>
    </p:embeddedFont>
    <p:embeddedFont>
      <p:font typeface="Calibri (MS)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4663" y="-2573017"/>
            <a:ext cx="7340603" cy="7340603"/>
            <a:chOff x="0" y="0"/>
            <a:chExt cx="9787471" cy="97874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1E3B7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1E3B7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5166343" y="-378457"/>
            <a:ext cx="4597403" cy="4597403"/>
            <a:chOff x="0" y="0"/>
            <a:chExt cx="6129871" cy="612987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243F7A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6129909" cy="6129782"/>
            </a:xfrm>
            <a:custGeom>
              <a:avLst/>
              <a:gdLst/>
              <a:ahLst/>
              <a:cxnLst/>
              <a:rect l="l" t="t" r="r" b="b"/>
              <a:pathLst>
                <a:path w="6129909" h="6129782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243F7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423143" y="7302503"/>
            <a:ext cx="3317243" cy="3317243"/>
            <a:chOff x="0" y="0"/>
            <a:chExt cx="4422991" cy="4422991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4389120" cy="4389120"/>
            </a:xfrm>
            <a:custGeom>
              <a:avLst/>
              <a:gdLst/>
              <a:ahLst/>
              <a:cxnLst/>
              <a:rect l="l" t="t" r="r" b="b"/>
              <a:pathLst>
                <a:path w="4389120" h="4389120">
                  <a:moveTo>
                    <a:pt x="0" y="2194560"/>
                  </a:moveTo>
                  <a:cubicBezTo>
                    <a:pt x="0" y="982599"/>
                    <a:pt x="982599" y="0"/>
                    <a:pt x="2194560" y="0"/>
                  </a:cubicBezTo>
                  <a:cubicBezTo>
                    <a:pt x="3406521" y="0"/>
                    <a:pt x="4389120" y="982599"/>
                    <a:pt x="4389120" y="2194560"/>
                  </a:cubicBezTo>
                  <a:cubicBezTo>
                    <a:pt x="4389120" y="3406521"/>
                    <a:pt x="3406521" y="4389120"/>
                    <a:pt x="2194560" y="4389120"/>
                  </a:cubicBezTo>
                  <a:cubicBezTo>
                    <a:pt x="982599" y="4389120"/>
                    <a:pt x="0" y="3406648"/>
                    <a:pt x="0" y="2194560"/>
                  </a:cubicBezTo>
                  <a:close/>
                </a:path>
              </a:pathLst>
            </a:custGeom>
            <a:solidFill>
              <a:srgbClr val="1E3B7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4423029" cy="4422902"/>
            </a:xfrm>
            <a:custGeom>
              <a:avLst/>
              <a:gdLst/>
              <a:ahLst/>
              <a:cxnLst/>
              <a:rect l="l" t="t" r="r" b="b"/>
              <a:pathLst>
                <a:path w="4423029" h="4422902">
                  <a:moveTo>
                    <a:pt x="0" y="2211451"/>
                  </a:moveTo>
                  <a:cubicBezTo>
                    <a:pt x="0" y="990092"/>
                    <a:pt x="990092" y="0"/>
                    <a:pt x="2211451" y="0"/>
                  </a:cubicBezTo>
                  <a:lnTo>
                    <a:pt x="2211451" y="16891"/>
                  </a:lnTo>
                  <a:lnTo>
                    <a:pt x="2211451" y="0"/>
                  </a:lnTo>
                  <a:cubicBezTo>
                    <a:pt x="3432810" y="0"/>
                    <a:pt x="4423029" y="990092"/>
                    <a:pt x="4423029" y="2211451"/>
                  </a:cubicBezTo>
                  <a:lnTo>
                    <a:pt x="4406138" y="2211451"/>
                  </a:lnTo>
                  <a:lnTo>
                    <a:pt x="4423029" y="2211451"/>
                  </a:lnTo>
                  <a:cubicBezTo>
                    <a:pt x="4423029" y="3432810"/>
                    <a:pt x="3432937" y="4422902"/>
                    <a:pt x="2211578" y="4422902"/>
                  </a:cubicBezTo>
                  <a:lnTo>
                    <a:pt x="2211578" y="4406011"/>
                  </a:lnTo>
                  <a:lnTo>
                    <a:pt x="2211578" y="4422902"/>
                  </a:lnTo>
                  <a:cubicBezTo>
                    <a:pt x="990092" y="4423029"/>
                    <a:pt x="0" y="3432810"/>
                    <a:pt x="0" y="2211451"/>
                  </a:cubicBezTo>
                  <a:lnTo>
                    <a:pt x="16891" y="221145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0" y="2211451"/>
                  </a:lnTo>
                  <a:moveTo>
                    <a:pt x="33909" y="2211451"/>
                  </a:moveTo>
                  <a:cubicBezTo>
                    <a:pt x="33909" y="2220849"/>
                    <a:pt x="26289" y="2228342"/>
                    <a:pt x="17018" y="2228342"/>
                  </a:cubicBezTo>
                  <a:cubicBezTo>
                    <a:pt x="7747" y="2228342"/>
                    <a:pt x="0" y="2220849"/>
                    <a:pt x="0" y="2211451"/>
                  </a:cubicBezTo>
                  <a:cubicBezTo>
                    <a:pt x="0" y="2202053"/>
                    <a:pt x="7620" y="2194560"/>
                    <a:pt x="16891" y="2194560"/>
                  </a:cubicBezTo>
                  <a:cubicBezTo>
                    <a:pt x="26162" y="2194560"/>
                    <a:pt x="33782" y="2202180"/>
                    <a:pt x="33782" y="2211451"/>
                  </a:cubicBezTo>
                  <a:cubicBezTo>
                    <a:pt x="33782" y="3414141"/>
                    <a:pt x="1008761" y="4389120"/>
                    <a:pt x="2211451" y="4389120"/>
                  </a:cubicBezTo>
                  <a:cubicBezTo>
                    <a:pt x="3414141" y="4389120"/>
                    <a:pt x="4389120" y="3414141"/>
                    <a:pt x="4389120" y="2211451"/>
                  </a:cubicBezTo>
                  <a:cubicBezTo>
                    <a:pt x="4389120" y="1008761"/>
                    <a:pt x="3414141" y="33782"/>
                    <a:pt x="2211451" y="33782"/>
                  </a:cubicBezTo>
                  <a:lnTo>
                    <a:pt x="2211451" y="16891"/>
                  </a:lnTo>
                  <a:lnTo>
                    <a:pt x="2211451" y="33909"/>
                  </a:lnTo>
                  <a:cubicBezTo>
                    <a:pt x="1008761" y="33909"/>
                    <a:pt x="33909" y="1008761"/>
                    <a:pt x="33909" y="2211451"/>
                  </a:cubicBezTo>
                  <a:close/>
                </a:path>
              </a:pathLst>
            </a:custGeom>
            <a:solidFill>
              <a:srgbClr val="1E3B7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-12697" y="-12697"/>
            <a:ext cx="208283" cy="10312403"/>
            <a:chOff x="0" y="0"/>
            <a:chExt cx="277711" cy="1374987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43840" cy="13715999"/>
            </a:xfrm>
            <a:custGeom>
              <a:avLst/>
              <a:gdLst/>
              <a:ahLst/>
              <a:cxnLst/>
              <a:rect l="l" t="t" r="r" b="b"/>
              <a:pathLst>
                <a:path w="243840" h="13715999">
                  <a:moveTo>
                    <a:pt x="0" y="0"/>
                  </a:moveTo>
                  <a:lnTo>
                    <a:pt x="243840" y="0"/>
                  </a:lnTo>
                  <a:lnTo>
                    <a:pt x="2438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77622" cy="13749782"/>
            </a:xfrm>
            <a:custGeom>
              <a:avLst/>
              <a:gdLst/>
              <a:ahLst/>
              <a:cxnLst/>
              <a:rect l="l" t="t" r="r" b="b"/>
              <a:pathLst>
                <a:path w="277622" h="1374978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3732890"/>
                  </a:lnTo>
                  <a:cubicBezTo>
                    <a:pt x="277622" y="13742290"/>
                    <a:pt x="270002" y="13749782"/>
                    <a:pt x="2607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60731" y="13716000"/>
                  </a:lnTo>
                  <a:lnTo>
                    <a:pt x="260731" y="13732890"/>
                  </a:lnTo>
                  <a:lnTo>
                    <a:pt x="243840" y="13732890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22960" y="694944"/>
            <a:ext cx="1280160" cy="1280160"/>
            <a:chOff x="0" y="0"/>
            <a:chExt cx="1706880" cy="1706880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706880" cy="1706880"/>
            </a:xfrm>
            <a:custGeom>
              <a:avLst/>
              <a:gdLst/>
              <a:ahLst/>
              <a:cxnLst/>
              <a:rect l="l" t="t" r="r" b="b"/>
              <a:pathLst>
                <a:path w="1706880" h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377440" y="731520"/>
            <a:ext cx="9144000" cy="822960"/>
            <a:chOff x="0" y="0"/>
            <a:chExt cx="12192000" cy="109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0" cy="1097280"/>
            </a:xfrm>
            <a:custGeom>
              <a:avLst/>
              <a:gdLst/>
              <a:ahLst/>
              <a:cxnLst/>
              <a:rect l="l" t="t" r="r" b="b"/>
              <a:pathLst>
                <a:path w="12192000" h="1097280">
                  <a:moveTo>
                    <a:pt x="0" y="0"/>
                  </a:moveTo>
                  <a:lnTo>
                    <a:pt x="12192000" y="0"/>
                  </a:lnTo>
                  <a:lnTo>
                    <a:pt x="12192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6500" b="-16650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21920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 spc="1000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GRADUATION PROJECT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1520" y="2011680"/>
            <a:ext cx="13716000" cy="2257127"/>
            <a:chOff x="0" y="0"/>
            <a:chExt cx="18288000" cy="300950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88000" cy="3009503"/>
            </a:xfrm>
            <a:custGeom>
              <a:avLst/>
              <a:gdLst/>
              <a:ahLst/>
              <a:cxnLst/>
              <a:rect l="l" t="t" r="r" b="b"/>
              <a:pathLst>
                <a:path w="18288000" h="3009503">
                  <a:moveTo>
                    <a:pt x="0" y="0"/>
                  </a:moveTo>
                  <a:lnTo>
                    <a:pt x="18288000" y="0"/>
                  </a:lnTo>
                  <a:lnTo>
                    <a:pt x="18288000" y="3009503"/>
                  </a:lnTo>
                  <a:lnTo>
                    <a:pt x="0" y="300950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842" b="-62968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28600"/>
              <a:ext cx="18288000" cy="3238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439"/>
                </a:lnSpc>
              </a:pPr>
              <a:r>
                <a:rPr lang="en-US" sz="11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UK Train Rides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31520" y="3931920"/>
            <a:ext cx="13716000" cy="1828800"/>
            <a:chOff x="0" y="0"/>
            <a:chExt cx="18288000" cy="2438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288000" cy="2438400"/>
            </a:xfrm>
            <a:custGeom>
              <a:avLst/>
              <a:gdLst/>
              <a:ahLst/>
              <a:cxnLst/>
              <a:rect l="l" t="t" r="r" b="b"/>
              <a:pathLst>
                <a:path w="18288000" h="2438400">
                  <a:moveTo>
                    <a:pt x="0" y="0"/>
                  </a:moveTo>
                  <a:lnTo>
                    <a:pt x="18288000" y="0"/>
                  </a:lnTo>
                  <a:lnTo>
                    <a:pt x="182880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28600"/>
              <a:ext cx="18288000" cy="26670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439"/>
                </a:lnSpc>
              </a:pPr>
              <a:r>
                <a:rPr lang="en-US" sz="11199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Analysis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31520" y="6035040"/>
            <a:ext cx="11887200" cy="768096"/>
            <a:chOff x="0" y="0"/>
            <a:chExt cx="1584960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849600" cy="1024128"/>
            </a:xfrm>
            <a:custGeom>
              <a:avLst/>
              <a:gdLst/>
              <a:ahLst/>
              <a:cxnLst/>
              <a:rect l="l" t="t" r="r" b="b"/>
              <a:pathLst>
                <a:path w="15849600" h="1024128">
                  <a:moveTo>
                    <a:pt x="0" y="0"/>
                  </a:moveTo>
                  <a:lnTo>
                    <a:pt x="15849600" y="0"/>
                  </a:lnTo>
                  <a:lnTo>
                    <a:pt x="15849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51554" b="-25155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584960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9DB4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Egypt Pioneers Initiative  ·  2025–2026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18823" y="8619239"/>
            <a:ext cx="4597403" cy="939803"/>
            <a:chOff x="0" y="0"/>
            <a:chExt cx="6129871" cy="125307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6096000" cy="1219200"/>
            </a:xfrm>
            <a:custGeom>
              <a:avLst/>
              <a:gdLst/>
              <a:ahLst/>
              <a:cxnLst/>
              <a:rect l="l" t="t" r="r" b="b"/>
              <a:pathLst>
                <a:path w="6096000" h="12192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6129782" cy="1252984"/>
            </a:xfrm>
            <a:custGeom>
              <a:avLst/>
              <a:gdLst/>
              <a:ahLst/>
              <a:cxnLst/>
              <a:rect l="l" t="t" r="r" b="b"/>
              <a:pathLst>
                <a:path w="6129782" h="1252984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1236091"/>
                  </a:lnTo>
                  <a:cubicBezTo>
                    <a:pt x="6129782" y="1245489"/>
                    <a:pt x="6122162" y="1252982"/>
                    <a:pt x="61128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6112891" y="1219200"/>
                  </a:lnTo>
                  <a:lnTo>
                    <a:pt x="6112891" y="1236091"/>
                  </a:lnTo>
                  <a:lnTo>
                    <a:pt x="6096000" y="1236091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31520" y="8631936"/>
            <a:ext cx="4572000" cy="914400"/>
            <a:chOff x="0" y="0"/>
            <a:chExt cx="609600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96000" cy="1219200"/>
            </a:xfrm>
            <a:custGeom>
              <a:avLst/>
              <a:gdLst/>
              <a:ahLst/>
              <a:cxnLst/>
              <a:rect l="l" t="t" r="r" b="b"/>
              <a:pathLst>
                <a:path w="6096000" h="12192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60960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Analytics Project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560320"/>
            </a:xfrm>
            <a:custGeom>
              <a:avLst/>
              <a:gdLst/>
              <a:ahLst/>
              <a:cxnLst/>
              <a:rect l="l" t="t" r="r" b="b"/>
              <a:pathLst>
                <a:path w="24383999" h="2560320">
                  <a:moveTo>
                    <a:pt x="0" y="0"/>
                  </a:moveTo>
                  <a:lnTo>
                    <a:pt x="24383999" y="0"/>
                  </a:lnTo>
                  <a:lnTo>
                    <a:pt x="2438399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594102"/>
            </a:xfrm>
            <a:custGeom>
              <a:avLst/>
              <a:gdLst/>
              <a:ahLst/>
              <a:cxnLst/>
              <a:rect l="l" t="t" r="r" b="b"/>
              <a:pathLst>
                <a:path w="24417782" h="25941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577211"/>
                  </a:lnTo>
                  <a:cubicBezTo>
                    <a:pt x="24417782" y="2586609"/>
                    <a:pt x="24410163" y="2594102"/>
                    <a:pt x="2440089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4400890" y="2560320"/>
                  </a:lnTo>
                  <a:lnTo>
                    <a:pt x="24400890" y="2577211"/>
                  </a:lnTo>
                  <a:lnTo>
                    <a:pt x="24384000" y="25772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F5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-12697"/>
            <a:ext cx="171707" cy="1945643"/>
            <a:chOff x="0" y="0"/>
            <a:chExt cx="228943" cy="25941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95072" cy="2560320"/>
            </a:xfrm>
            <a:custGeom>
              <a:avLst/>
              <a:gdLst/>
              <a:ahLst/>
              <a:cxnLst/>
              <a:rect l="l" t="t" r="r" b="b"/>
              <a:pathLst>
                <a:path w="195072" h="2560320">
                  <a:moveTo>
                    <a:pt x="0" y="0"/>
                  </a:moveTo>
                  <a:lnTo>
                    <a:pt x="195072" y="0"/>
                  </a:lnTo>
                  <a:lnTo>
                    <a:pt x="19507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8854" cy="2594102"/>
            </a:xfrm>
            <a:custGeom>
              <a:avLst/>
              <a:gdLst/>
              <a:ahLst/>
              <a:cxnLst/>
              <a:rect l="l" t="t" r="r" b="b"/>
              <a:pathLst>
                <a:path w="228854" h="259410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77211"/>
                  </a:lnTo>
                  <a:cubicBezTo>
                    <a:pt x="228854" y="2586609"/>
                    <a:pt x="221234" y="2594102"/>
                    <a:pt x="211963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11963" y="2560320"/>
                  </a:lnTo>
                  <a:lnTo>
                    <a:pt x="211963" y="2577211"/>
                  </a:lnTo>
                  <a:lnTo>
                    <a:pt x="195072" y="25772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5544800" cy="1920240"/>
            <a:chOff x="0" y="0"/>
            <a:chExt cx="20726400" cy="2560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26400" cy="2560320"/>
            </a:xfrm>
            <a:custGeom>
              <a:avLst/>
              <a:gdLst/>
              <a:ahLst/>
              <a:cxnLst/>
              <a:rect l="l" t="t" r="r" b="b"/>
              <a:pathLst>
                <a:path w="20726400" h="2560320">
                  <a:moveTo>
                    <a:pt x="0" y="0"/>
                  </a:moveTo>
                  <a:lnTo>
                    <a:pt x="20726400" y="0"/>
                  </a:lnTo>
                  <a:lnTo>
                    <a:pt x="207264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736" b="-1077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0726400" cy="2674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Meet the Team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642080" y="512064"/>
            <a:ext cx="1005840" cy="1005840"/>
            <a:chOff x="0" y="0"/>
            <a:chExt cx="1341120" cy="1341120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402336" y="2103120"/>
            <a:ext cx="17373600" cy="694944"/>
            <a:chOff x="0" y="0"/>
            <a:chExt cx="23164800" cy="92659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164800" cy="926592"/>
            </a:xfrm>
            <a:custGeom>
              <a:avLst/>
              <a:gdLst/>
              <a:ahLst/>
              <a:cxnLst/>
              <a:rect l="l" t="t" r="r" b="b"/>
              <a:pathLst>
                <a:path w="23164800" h="926592">
                  <a:moveTo>
                    <a:pt x="0" y="0"/>
                  </a:moveTo>
                  <a:lnTo>
                    <a:pt x="23164800" y="0"/>
                  </a:lnTo>
                  <a:lnTo>
                    <a:pt x="23164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31648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Digital Egypt Pioneers Initiative  ·  Data Analytics Track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44503" y="2949959"/>
            <a:ext cx="3134363" cy="6668967"/>
            <a:chOff x="0" y="0"/>
            <a:chExt cx="4179151" cy="8891956"/>
          </a:xfrm>
        </p:grpSpPr>
        <p:sp>
          <p:nvSpPr>
            <p:cNvPr id="17" name="Freeform 17"/>
            <p:cNvSpPr/>
            <p:nvPr/>
          </p:nvSpPr>
          <p:spPr>
            <a:xfrm>
              <a:off x="16891" y="16891"/>
              <a:ext cx="4145280" cy="8858123"/>
            </a:xfrm>
            <a:custGeom>
              <a:avLst/>
              <a:gdLst/>
              <a:ahLst/>
              <a:cxnLst/>
              <a:rect l="l" t="t" r="r" b="b"/>
              <a:pathLst>
                <a:path w="4145280" h="8858123">
                  <a:moveTo>
                    <a:pt x="0" y="0"/>
                  </a:moveTo>
                  <a:lnTo>
                    <a:pt x="4145280" y="0"/>
                  </a:lnTo>
                  <a:lnTo>
                    <a:pt x="4145280" y="8858123"/>
                  </a:lnTo>
                  <a:lnTo>
                    <a:pt x="0" y="88581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4179062" cy="8891905"/>
            </a:xfrm>
            <a:custGeom>
              <a:avLst/>
              <a:gdLst/>
              <a:ahLst/>
              <a:cxnLst/>
              <a:rect l="l" t="t" r="r" b="b"/>
              <a:pathLst>
                <a:path w="4179062" h="8891905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8875014"/>
                  </a:lnTo>
                  <a:cubicBezTo>
                    <a:pt x="4179062" y="8884412"/>
                    <a:pt x="4171442" y="8891905"/>
                    <a:pt x="4162171" y="8891905"/>
                  </a:cubicBezTo>
                  <a:lnTo>
                    <a:pt x="16891" y="8891905"/>
                  </a:lnTo>
                  <a:cubicBezTo>
                    <a:pt x="7493" y="8891905"/>
                    <a:pt x="0" y="8884285"/>
                    <a:pt x="0" y="887501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75014"/>
                  </a:lnTo>
                  <a:lnTo>
                    <a:pt x="16891" y="8875014"/>
                  </a:lnTo>
                  <a:lnTo>
                    <a:pt x="16891" y="8858123"/>
                  </a:lnTo>
                  <a:lnTo>
                    <a:pt x="4162171" y="8858123"/>
                  </a:lnTo>
                  <a:lnTo>
                    <a:pt x="4162171" y="8875014"/>
                  </a:lnTo>
                  <a:lnTo>
                    <a:pt x="4145280" y="8875014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444503" y="2949959"/>
            <a:ext cx="3134363" cy="354587"/>
            <a:chOff x="0" y="0"/>
            <a:chExt cx="4179151" cy="472783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4145280" cy="438912"/>
            </a:xfrm>
            <a:custGeom>
              <a:avLst/>
              <a:gdLst/>
              <a:ahLst/>
              <a:cxnLst/>
              <a:rect l="l" t="t" r="r" b="b"/>
              <a:pathLst>
                <a:path w="4145280" h="438912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4179062" cy="472696"/>
            </a:xfrm>
            <a:custGeom>
              <a:avLst/>
              <a:gdLst/>
              <a:ahLst/>
              <a:cxnLst/>
              <a:rect l="l" t="t" r="r" b="b"/>
              <a:pathLst>
                <a:path w="4179062" h="47269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455803"/>
                  </a:lnTo>
                  <a:cubicBezTo>
                    <a:pt x="4179062" y="465201"/>
                    <a:pt x="4171442" y="472694"/>
                    <a:pt x="41621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162171" y="438912"/>
                  </a:lnTo>
                  <a:lnTo>
                    <a:pt x="4162171" y="455803"/>
                  </a:lnTo>
                  <a:lnTo>
                    <a:pt x="4145280" y="45580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48007" y="3498599"/>
            <a:ext cx="1927355" cy="1927355"/>
            <a:chOff x="0" y="0"/>
            <a:chExt cx="2569807" cy="2569807"/>
          </a:xfrm>
        </p:grpSpPr>
        <p:sp>
          <p:nvSpPr>
            <p:cNvPr id="23" name="Freeform 23"/>
            <p:cNvSpPr/>
            <p:nvPr/>
          </p:nvSpPr>
          <p:spPr>
            <a:xfrm>
              <a:off x="16891" y="16891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1267968"/>
                  </a:moveTo>
                  <a:cubicBezTo>
                    <a:pt x="0" y="567690"/>
                    <a:pt x="567690" y="0"/>
                    <a:pt x="1267968" y="0"/>
                  </a:cubicBezTo>
                  <a:cubicBezTo>
                    <a:pt x="1968246" y="0"/>
                    <a:pt x="2535936" y="567690"/>
                    <a:pt x="2535936" y="1267968"/>
                  </a:cubicBezTo>
                  <a:cubicBezTo>
                    <a:pt x="2535936" y="1968246"/>
                    <a:pt x="1968246" y="2535936"/>
                    <a:pt x="1267968" y="2535936"/>
                  </a:cubicBezTo>
                  <a:cubicBezTo>
                    <a:pt x="567690" y="2535936"/>
                    <a:pt x="0" y="1968246"/>
                    <a:pt x="0" y="1267968"/>
                  </a:cubicBez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2569718" cy="2569718"/>
            </a:xfrm>
            <a:custGeom>
              <a:avLst/>
              <a:gdLst/>
              <a:ahLst/>
              <a:cxnLst/>
              <a:rect l="l" t="t" r="r" b="b"/>
              <a:pathLst>
                <a:path w="2569718" h="2569718">
                  <a:moveTo>
                    <a:pt x="0" y="1284859"/>
                  </a:moveTo>
                  <a:cubicBezTo>
                    <a:pt x="0" y="575310"/>
                    <a:pt x="575310" y="0"/>
                    <a:pt x="1284859" y="0"/>
                  </a:cubicBezTo>
                  <a:lnTo>
                    <a:pt x="1284859" y="16891"/>
                  </a:lnTo>
                  <a:lnTo>
                    <a:pt x="1284859" y="0"/>
                  </a:lnTo>
                  <a:cubicBezTo>
                    <a:pt x="1994535" y="0"/>
                    <a:pt x="2569718" y="575310"/>
                    <a:pt x="2569718" y="1284859"/>
                  </a:cubicBezTo>
                  <a:lnTo>
                    <a:pt x="2552827" y="1284859"/>
                  </a:lnTo>
                  <a:lnTo>
                    <a:pt x="2569718" y="1284859"/>
                  </a:lnTo>
                  <a:cubicBezTo>
                    <a:pt x="2569718" y="1994535"/>
                    <a:pt x="1994408" y="2569718"/>
                    <a:pt x="1284859" y="2569718"/>
                  </a:cubicBezTo>
                  <a:lnTo>
                    <a:pt x="1284859" y="2552827"/>
                  </a:lnTo>
                  <a:lnTo>
                    <a:pt x="1284859" y="2569718"/>
                  </a:lnTo>
                  <a:cubicBezTo>
                    <a:pt x="575310" y="2569845"/>
                    <a:pt x="0" y="1994535"/>
                    <a:pt x="0" y="1284859"/>
                  </a:cubicBezTo>
                  <a:lnTo>
                    <a:pt x="16891" y="1284859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0" y="1284859"/>
                  </a:lnTo>
                  <a:moveTo>
                    <a:pt x="33909" y="1284859"/>
                  </a:moveTo>
                  <a:cubicBezTo>
                    <a:pt x="33909" y="1294257"/>
                    <a:pt x="26289" y="1301750"/>
                    <a:pt x="17018" y="1301750"/>
                  </a:cubicBezTo>
                  <a:cubicBezTo>
                    <a:pt x="7747" y="1301750"/>
                    <a:pt x="0" y="1294257"/>
                    <a:pt x="0" y="1284859"/>
                  </a:cubicBezTo>
                  <a:cubicBezTo>
                    <a:pt x="0" y="1275461"/>
                    <a:pt x="7620" y="1267968"/>
                    <a:pt x="16891" y="1267968"/>
                  </a:cubicBezTo>
                  <a:cubicBezTo>
                    <a:pt x="26162" y="1267968"/>
                    <a:pt x="33782" y="1275588"/>
                    <a:pt x="33782" y="1284859"/>
                  </a:cubicBezTo>
                  <a:cubicBezTo>
                    <a:pt x="33782" y="1975739"/>
                    <a:pt x="593852" y="2535936"/>
                    <a:pt x="1284859" y="2535936"/>
                  </a:cubicBezTo>
                  <a:cubicBezTo>
                    <a:pt x="1975739" y="2535936"/>
                    <a:pt x="2535936" y="1975866"/>
                    <a:pt x="2535936" y="1284859"/>
                  </a:cubicBezTo>
                  <a:cubicBezTo>
                    <a:pt x="2535936" y="593979"/>
                    <a:pt x="1975866" y="33782"/>
                    <a:pt x="1284859" y="33782"/>
                  </a:cubicBezTo>
                  <a:lnTo>
                    <a:pt x="1284859" y="16891"/>
                  </a:lnTo>
                  <a:lnTo>
                    <a:pt x="1284859" y="33909"/>
                  </a:lnTo>
                  <a:cubicBezTo>
                    <a:pt x="593979" y="33909"/>
                    <a:pt x="33782" y="593979"/>
                    <a:pt x="33782" y="1284986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1060704" y="3511296"/>
            <a:ext cx="1901952" cy="1901952"/>
            <a:chOff x="0" y="0"/>
            <a:chExt cx="2535936" cy="253593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23825"/>
              <a:ext cx="2535936" cy="2659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2913383" y="3352295"/>
            <a:ext cx="610619" cy="610619"/>
            <a:chOff x="0" y="0"/>
            <a:chExt cx="814159" cy="814159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814070" cy="814070"/>
            </a:xfrm>
            <a:custGeom>
              <a:avLst/>
              <a:gdLst/>
              <a:ahLst/>
              <a:cxnLst/>
              <a:rect l="l" t="t" r="r" b="b"/>
              <a:pathLst>
                <a:path w="814070" h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2926080" y="3364992"/>
            <a:ext cx="585216" cy="585216"/>
            <a:chOff x="0" y="0"/>
            <a:chExt cx="780288" cy="78028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8640" y="5669280"/>
            <a:ext cx="2926080" cy="877824"/>
            <a:chOff x="0" y="0"/>
            <a:chExt cx="3901440" cy="11704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1440" cy="1170432"/>
            </a:xfrm>
            <a:custGeom>
              <a:avLst/>
              <a:gdLst/>
              <a:ahLst/>
              <a:cxnLst/>
              <a:rect l="l" t="t" r="r" b="b"/>
              <a:pathLst>
                <a:path w="3901440" h="1170432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390144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Farah Nagy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1703" y="6662423"/>
            <a:ext cx="2219963" cy="71123"/>
            <a:chOff x="0" y="0"/>
            <a:chExt cx="2959951" cy="94831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2926080" cy="60960"/>
            </a:xfrm>
            <a:custGeom>
              <a:avLst/>
              <a:gdLst/>
              <a:ahLst/>
              <a:cxnLst/>
              <a:rect l="l" t="t" r="r" b="b"/>
              <a:pathLst>
                <a:path w="2926080" h="60960">
                  <a:moveTo>
                    <a:pt x="0" y="0"/>
                  </a:moveTo>
                  <a:lnTo>
                    <a:pt x="2926080" y="0"/>
                  </a:lnTo>
                  <a:lnTo>
                    <a:pt x="29260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0"/>
              <a:ext cx="2959862" cy="94744"/>
            </a:xfrm>
            <a:custGeom>
              <a:avLst/>
              <a:gdLst/>
              <a:ahLst/>
              <a:cxnLst/>
              <a:rect l="l" t="t" r="r" b="b"/>
              <a:pathLst>
                <a:path w="2959862" h="9474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7851"/>
                  </a:lnTo>
                  <a:cubicBezTo>
                    <a:pt x="2959862" y="87249"/>
                    <a:pt x="2952242" y="94742"/>
                    <a:pt x="294297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942971" y="60960"/>
                  </a:lnTo>
                  <a:lnTo>
                    <a:pt x="2942971" y="77851"/>
                  </a:lnTo>
                  <a:lnTo>
                    <a:pt x="2926080" y="7785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77802" y="6992712"/>
            <a:ext cx="2475995" cy="793499"/>
            <a:chOff x="0" y="0"/>
            <a:chExt cx="3301327" cy="1057999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3267456" cy="1024128"/>
            </a:xfrm>
            <a:custGeom>
              <a:avLst/>
              <a:gdLst/>
              <a:ahLst/>
              <a:cxnLst/>
              <a:rect l="l" t="t" r="r" b="b"/>
              <a:pathLst>
                <a:path w="3267456" h="1024128">
                  <a:moveTo>
                    <a:pt x="0" y="0"/>
                  </a:moveTo>
                  <a:lnTo>
                    <a:pt x="3267456" y="0"/>
                  </a:lnTo>
                  <a:lnTo>
                    <a:pt x="326745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3301238" cy="1057912"/>
            </a:xfrm>
            <a:custGeom>
              <a:avLst/>
              <a:gdLst/>
              <a:ahLst/>
              <a:cxnLst/>
              <a:rect l="l" t="t" r="r" b="b"/>
              <a:pathLst>
                <a:path w="3301238" h="1057912">
                  <a:moveTo>
                    <a:pt x="16891" y="0"/>
                  </a:moveTo>
                  <a:lnTo>
                    <a:pt x="3284347" y="0"/>
                  </a:lnTo>
                  <a:cubicBezTo>
                    <a:pt x="3293745" y="0"/>
                    <a:pt x="3301238" y="7620"/>
                    <a:pt x="3301238" y="16891"/>
                  </a:cubicBezTo>
                  <a:lnTo>
                    <a:pt x="3301238" y="1041019"/>
                  </a:lnTo>
                  <a:cubicBezTo>
                    <a:pt x="3301238" y="1050417"/>
                    <a:pt x="3293618" y="1057910"/>
                    <a:pt x="328434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3284347" y="1024128"/>
                  </a:lnTo>
                  <a:lnTo>
                    <a:pt x="3284347" y="1041019"/>
                  </a:lnTo>
                  <a:lnTo>
                    <a:pt x="3267456" y="1041019"/>
                  </a:lnTo>
                  <a:lnTo>
                    <a:pt x="3267456" y="16891"/>
                  </a:lnTo>
                  <a:lnTo>
                    <a:pt x="3284347" y="16891"/>
                  </a:lnTo>
                  <a:lnTo>
                    <a:pt x="3284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786384" y="6409944"/>
            <a:ext cx="2450592" cy="2075688"/>
            <a:chOff x="0" y="0"/>
            <a:chExt cx="3267456" cy="276758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267456" cy="2767584"/>
            </a:xfrm>
            <a:custGeom>
              <a:avLst/>
              <a:gdLst/>
              <a:ahLst/>
              <a:cxnLst/>
              <a:rect l="l" t="t" r="r" b="b"/>
              <a:pathLst>
                <a:path w="3267456" h="2767584">
                  <a:moveTo>
                    <a:pt x="0" y="0"/>
                  </a:moveTo>
                  <a:lnTo>
                    <a:pt x="3267456" y="0"/>
                  </a:lnTo>
                  <a:lnTo>
                    <a:pt x="3267456" y="2767584"/>
                  </a:lnTo>
                  <a:lnTo>
                    <a:pt x="0" y="2767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675" r="-5867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3267456" cy="2805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DEPI Graduate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779527" y="8802119"/>
            <a:ext cx="464315" cy="464315"/>
            <a:chOff x="0" y="0"/>
            <a:chExt cx="619087" cy="619087"/>
          </a:xfrm>
        </p:grpSpPr>
        <p:sp>
          <p:nvSpPr>
            <p:cNvPr id="47" name="Freeform 47"/>
            <p:cNvSpPr/>
            <p:nvPr/>
          </p:nvSpPr>
          <p:spPr>
            <a:xfrm>
              <a:off x="16891" y="16891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0"/>
              <a:ext cx="619125" cy="618998"/>
            </a:xfrm>
            <a:custGeom>
              <a:avLst/>
              <a:gdLst/>
              <a:ahLst/>
              <a:cxnLst/>
              <a:rect l="l" t="t" r="r" b="b"/>
              <a:pathLst>
                <a:path w="619125" h="618998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3919223" y="2949959"/>
            <a:ext cx="3134363" cy="6668967"/>
            <a:chOff x="0" y="0"/>
            <a:chExt cx="4179151" cy="8891956"/>
          </a:xfrm>
        </p:grpSpPr>
        <p:sp>
          <p:nvSpPr>
            <p:cNvPr id="50" name="Freeform 50"/>
            <p:cNvSpPr/>
            <p:nvPr/>
          </p:nvSpPr>
          <p:spPr>
            <a:xfrm>
              <a:off x="16891" y="16891"/>
              <a:ext cx="4145280" cy="8858123"/>
            </a:xfrm>
            <a:custGeom>
              <a:avLst/>
              <a:gdLst/>
              <a:ahLst/>
              <a:cxnLst/>
              <a:rect l="l" t="t" r="r" b="b"/>
              <a:pathLst>
                <a:path w="4145280" h="8858123">
                  <a:moveTo>
                    <a:pt x="0" y="0"/>
                  </a:moveTo>
                  <a:lnTo>
                    <a:pt x="4145280" y="0"/>
                  </a:lnTo>
                  <a:lnTo>
                    <a:pt x="4145280" y="8858123"/>
                  </a:lnTo>
                  <a:lnTo>
                    <a:pt x="0" y="88581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4179062" cy="8891905"/>
            </a:xfrm>
            <a:custGeom>
              <a:avLst/>
              <a:gdLst/>
              <a:ahLst/>
              <a:cxnLst/>
              <a:rect l="l" t="t" r="r" b="b"/>
              <a:pathLst>
                <a:path w="4179062" h="8891905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8875014"/>
                  </a:lnTo>
                  <a:cubicBezTo>
                    <a:pt x="4179062" y="8884412"/>
                    <a:pt x="4171442" y="8891905"/>
                    <a:pt x="4162171" y="8891905"/>
                  </a:cubicBezTo>
                  <a:lnTo>
                    <a:pt x="16891" y="8891905"/>
                  </a:lnTo>
                  <a:cubicBezTo>
                    <a:pt x="7493" y="8891905"/>
                    <a:pt x="0" y="8884285"/>
                    <a:pt x="0" y="887501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75014"/>
                  </a:lnTo>
                  <a:lnTo>
                    <a:pt x="16891" y="8875014"/>
                  </a:lnTo>
                  <a:lnTo>
                    <a:pt x="16891" y="8858123"/>
                  </a:lnTo>
                  <a:lnTo>
                    <a:pt x="4162171" y="8858123"/>
                  </a:lnTo>
                  <a:lnTo>
                    <a:pt x="4162171" y="8875014"/>
                  </a:lnTo>
                  <a:lnTo>
                    <a:pt x="4145280" y="8875014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3919223" y="2949959"/>
            <a:ext cx="3134363" cy="354587"/>
            <a:chOff x="0" y="0"/>
            <a:chExt cx="4179151" cy="472783"/>
          </a:xfrm>
        </p:grpSpPr>
        <p:sp>
          <p:nvSpPr>
            <p:cNvPr id="53" name="Freeform 53"/>
            <p:cNvSpPr/>
            <p:nvPr/>
          </p:nvSpPr>
          <p:spPr>
            <a:xfrm>
              <a:off x="16891" y="16891"/>
              <a:ext cx="4145280" cy="438912"/>
            </a:xfrm>
            <a:custGeom>
              <a:avLst/>
              <a:gdLst/>
              <a:ahLst/>
              <a:cxnLst/>
              <a:rect l="l" t="t" r="r" b="b"/>
              <a:pathLst>
                <a:path w="4145280" h="438912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0" y="0"/>
              <a:ext cx="4179062" cy="472696"/>
            </a:xfrm>
            <a:custGeom>
              <a:avLst/>
              <a:gdLst/>
              <a:ahLst/>
              <a:cxnLst/>
              <a:rect l="l" t="t" r="r" b="b"/>
              <a:pathLst>
                <a:path w="4179062" h="47269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455803"/>
                  </a:lnTo>
                  <a:cubicBezTo>
                    <a:pt x="4179062" y="465201"/>
                    <a:pt x="4171442" y="472694"/>
                    <a:pt x="41621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162171" y="438912"/>
                  </a:lnTo>
                  <a:lnTo>
                    <a:pt x="4162171" y="455803"/>
                  </a:lnTo>
                  <a:lnTo>
                    <a:pt x="4145280" y="45580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4522727" y="3498599"/>
            <a:ext cx="1927355" cy="1927355"/>
            <a:chOff x="0" y="0"/>
            <a:chExt cx="2569807" cy="2569807"/>
          </a:xfrm>
        </p:grpSpPr>
        <p:sp>
          <p:nvSpPr>
            <p:cNvPr id="56" name="Freeform 56"/>
            <p:cNvSpPr/>
            <p:nvPr/>
          </p:nvSpPr>
          <p:spPr>
            <a:xfrm>
              <a:off x="16891" y="16891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1267968"/>
                  </a:moveTo>
                  <a:cubicBezTo>
                    <a:pt x="0" y="567690"/>
                    <a:pt x="567690" y="0"/>
                    <a:pt x="1267968" y="0"/>
                  </a:cubicBezTo>
                  <a:cubicBezTo>
                    <a:pt x="1968246" y="0"/>
                    <a:pt x="2535936" y="567690"/>
                    <a:pt x="2535936" y="1267968"/>
                  </a:cubicBezTo>
                  <a:cubicBezTo>
                    <a:pt x="2535936" y="1968246"/>
                    <a:pt x="1968246" y="2535936"/>
                    <a:pt x="1267968" y="2535936"/>
                  </a:cubicBezTo>
                  <a:cubicBezTo>
                    <a:pt x="567690" y="2535936"/>
                    <a:pt x="0" y="1968246"/>
                    <a:pt x="0" y="1267968"/>
                  </a:cubicBez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2569718" cy="2569718"/>
            </a:xfrm>
            <a:custGeom>
              <a:avLst/>
              <a:gdLst/>
              <a:ahLst/>
              <a:cxnLst/>
              <a:rect l="l" t="t" r="r" b="b"/>
              <a:pathLst>
                <a:path w="2569718" h="2569718">
                  <a:moveTo>
                    <a:pt x="0" y="1284859"/>
                  </a:moveTo>
                  <a:cubicBezTo>
                    <a:pt x="0" y="575310"/>
                    <a:pt x="575310" y="0"/>
                    <a:pt x="1284859" y="0"/>
                  </a:cubicBezTo>
                  <a:lnTo>
                    <a:pt x="1284859" y="16891"/>
                  </a:lnTo>
                  <a:lnTo>
                    <a:pt x="1284859" y="0"/>
                  </a:lnTo>
                  <a:cubicBezTo>
                    <a:pt x="1994535" y="0"/>
                    <a:pt x="2569718" y="575310"/>
                    <a:pt x="2569718" y="1284859"/>
                  </a:cubicBezTo>
                  <a:lnTo>
                    <a:pt x="2552827" y="1284859"/>
                  </a:lnTo>
                  <a:lnTo>
                    <a:pt x="2569718" y="1284859"/>
                  </a:lnTo>
                  <a:cubicBezTo>
                    <a:pt x="2569718" y="1994535"/>
                    <a:pt x="1994408" y="2569718"/>
                    <a:pt x="1284859" y="2569718"/>
                  </a:cubicBezTo>
                  <a:lnTo>
                    <a:pt x="1284859" y="2552827"/>
                  </a:lnTo>
                  <a:lnTo>
                    <a:pt x="1284859" y="2569718"/>
                  </a:lnTo>
                  <a:cubicBezTo>
                    <a:pt x="575310" y="2569845"/>
                    <a:pt x="0" y="1994535"/>
                    <a:pt x="0" y="1284859"/>
                  </a:cubicBezTo>
                  <a:lnTo>
                    <a:pt x="16891" y="1284859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0" y="1284859"/>
                  </a:lnTo>
                  <a:moveTo>
                    <a:pt x="33909" y="1284859"/>
                  </a:moveTo>
                  <a:cubicBezTo>
                    <a:pt x="33909" y="1294257"/>
                    <a:pt x="26289" y="1301750"/>
                    <a:pt x="17018" y="1301750"/>
                  </a:cubicBezTo>
                  <a:cubicBezTo>
                    <a:pt x="7747" y="1301750"/>
                    <a:pt x="0" y="1294257"/>
                    <a:pt x="0" y="1284859"/>
                  </a:cubicBezTo>
                  <a:cubicBezTo>
                    <a:pt x="0" y="1275461"/>
                    <a:pt x="7620" y="1267968"/>
                    <a:pt x="16891" y="1267968"/>
                  </a:cubicBezTo>
                  <a:cubicBezTo>
                    <a:pt x="26162" y="1267968"/>
                    <a:pt x="33782" y="1275588"/>
                    <a:pt x="33782" y="1284859"/>
                  </a:cubicBezTo>
                  <a:cubicBezTo>
                    <a:pt x="33782" y="1975739"/>
                    <a:pt x="593852" y="2535936"/>
                    <a:pt x="1284859" y="2535936"/>
                  </a:cubicBezTo>
                  <a:cubicBezTo>
                    <a:pt x="1975739" y="2535936"/>
                    <a:pt x="2535936" y="1975866"/>
                    <a:pt x="2535936" y="1284859"/>
                  </a:cubicBezTo>
                  <a:cubicBezTo>
                    <a:pt x="2535936" y="593979"/>
                    <a:pt x="1975866" y="33782"/>
                    <a:pt x="1284859" y="33782"/>
                  </a:cubicBezTo>
                  <a:lnTo>
                    <a:pt x="1284859" y="16891"/>
                  </a:lnTo>
                  <a:lnTo>
                    <a:pt x="1284859" y="33909"/>
                  </a:lnTo>
                  <a:cubicBezTo>
                    <a:pt x="593979" y="33909"/>
                    <a:pt x="33782" y="593979"/>
                    <a:pt x="33782" y="1284986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4535424" y="3511296"/>
            <a:ext cx="1901952" cy="1901952"/>
            <a:chOff x="0" y="0"/>
            <a:chExt cx="2535936" cy="253593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123825"/>
              <a:ext cx="2535936" cy="2659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4BBFA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388103" y="3352295"/>
            <a:ext cx="610619" cy="610619"/>
            <a:chOff x="0" y="0"/>
            <a:chExt cx="814159" cy="814159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814070" cy="814070"/>
            </a:xfrm>
            <a:custGeom>
              <a:avLst/>
              <a:gdLst/>
              <a:ahLst/>
              <a:cxnLst/>
              <a:rect l="l" t="t" r="r" b="b"/>
              <a:pathLst>
                <a:path w="814070" h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6400800" y="3364992"/>
            <a:ext cx="585216" cy="585216"/>
            <a:chOff x="0" y="0"/>
            <a:chExt cx="780288" cy="78028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023360" y="5669280"/>
            <a:ext cx="2926080" cy="877824"/>
            <a:chOff x="0" y="0"/>
            <a:chExt cx="3901440" cy="117043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3901440" cy="1170432"/>
            </a:xfrm>
            <a:custGeom>
              <a:avLst/>
              <a:gdLst/>
              <a:ahLst/>
              <a:cxnLst/>
              <a:rect l="l" t="t" r="r" b="b"/>
              <a:pathLst>
                <a:path w="3901440" h="1170432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57150"/>
              <a:ext cx="390144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Esraa Rashed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376423" y="6662423"/>
            <a:ext cx="2219963" cy="71123"/>
            <a:chOff x="0" y="0"/>
            <a:chExt cx="2959951" cy="94831"/>
          </a:xfrm>
        </p:grpSpPr>
        <p:sp>
          <p:nvSpPr>
            <p:cNvPr id="71" name="Freeform 71"/>
            <p:cNvSpPr/>
            <p:nvPr/>
          </p:nvSpPr>
          <p:spPr>
            <a:xfrm>
              <a:off x="16891" y="16891"/>
              <a:ext cx="2926080" cy="60960"/>
            </a:xfrm>
            <a:custGeom>
              <a:avLst/>
              <a:gdLst/>
              <a:ahLst/>
              <a:cxnLst/>
              <a:rect l="l" t="t" r="r" b="b"/>
              <a:pathLst>
                <a:path w="2926080" h="60960">
                  <a:moveTo>
                    <a:pt x="0" y="0"/>
                  </a:moveTo>
                  <a:lnTo>
                    <a:pt x="2926080" y="0"/>
                  </a:lnTo>
                  <a:lnTo>
                    <a:pt x="29260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0" y="0"/>
              <a:ext cx="2959862" cy="94744"/>
            </a:xfrm>
            <a:custGeom>
              <a:avLst/>
              <a:gdLst/>
              <a:ahLst/>
              <a:cxnLst/>
              <a:rect l="l" t="t" r="r" b="b"/>
              <a:pathLst>
                <a:path w="2959862" h="9474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7851"/>
                  </a:lnTo>
                  <a:cubicBezTo>
                    <a:pt x="2959862" y="87249"/>
                    <a:pt x="2952242" y="94742"/>
                    <a:pt x="294297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942971" y="60960"/>
                  </a:lnTo>
                  <a:lnTo>
                    <a:pt x="2942971" y="77851"/>
                  </a:lnTo>
                  <a:lnTo>
                    <a:pt x="2926080" y="7785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4243378" y="7012505"/>
            <a:ext cx="2475995" cy="793499"/>
            <a:chOff x="0" y="0"/>
            <a:chExt cx="3301327" cy="1057999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3267456" cy="1024128"/>
            </a:xfrm>
            <a:custGeom>
              <a:avLst/>
              <a:gdLst/>
              <a:ahLst/>
              <a:cxnLst/>
              <a:rect l="l" t="t" r="r" b="b"/>
              <a:pathLst>
                <a:path w="3267456" h="1024128">
                  <a:moveTo>
                    <a:pt x="0" y="0"/>
                  </a:moveTo>
                  <a:lnTo>
                    <a:pt x="3267456" y="0"/>
                  </a:lnTo>
                  <a:lnTo>
                    <a:pt x="326745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3301238" cy="1057912"/>
            </a:xfrm>
            <a:custGeom>
              <a:avLst/>
              <a:gdLst/>
              <a:ahLst/>
              <a:cxnLst/>
              <a:rect l="l" t="t" r="r" b="b"/>
              <a:pathLst>
                <a:path w="3301238" h="1057912">
                  <a:moveTo>
                    <a:pt x="16891" y="0"/>
                  </a:moveTo>
                  <a:lnTo>
                    <a:pt x="3284347" y="0"/>
                  </a:lnTo>
                  <a:cubicBezTo>
                    <a:pt x="3293745" y="0"/>
                    <a:pt x="3301238" y="7620"/>
                    <a:pt x="3301238" y="16891"/>
                  </a:cubicBezTo>
                  <a:lnTo>
                    <a:pt x="3301238" y="1041019"/>
                  </a:lnTo>
                  <a:cubicBezTo>
                    <a:pt x="3301238" y="1050417"/>
                    <a:pt x="3293618" y="1057910"/>
                    <a:pt x="328434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3284347" y="1024128"/>
                  </a:lnTo>
                  <a:lnTo>
                    <a:pt x="3284347" y="1041019"/>
                  </a:lnTo>
                  <a:lnTo>
                    <a:pt x="3267456" y="1041019"/>
                  </a:lnTo>
                  <a:lnTo>
                    <a:pt x="3267456" y="16891"/>
                  </a:lnTo>
                  <a:lnTo>
                    <a:pt x="3284347" y="16891"/>
                  </a:lnTo>
                  <a:lnTo>
                    <a:pt x="3284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76" name="Group 76"/>
          <p:cNvGrpSpPr/>
          <p:nvPr/>
        </p:nvGrpSpPr>
        <p:grpSpPr>
          <a:xfrm>
            <a:off x="4261104" y="6409944"/>
            <a:ext cx="2450592" cy="2075688"/>
            <a:chOff x="0" y="0"/>
            <a:chExt cx="3267456" cy="276758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267456" cy="2767584"/>
            </a:xfrm>
            <a:custGeom>
              <a:avLst/>
              <a:gdLst/>
              <a:ahLst/>
              <a:cxnLst/>
              <a:rect l="l" t="t" r="r" b="b"/>
              <a:pathLst>
                <a:path w="3267456" h="2767584">
                  <a:moveTo>
                    <a:pt x="0" y="0"/>
                  </a:moveTo>
                  <a:lnTo>
                    <a:pt x="3267456" y="0"/>
                  </a:lnTo>
                  <a:lnTo>
                    <a:pt x="3267456" y="2767584"/>
                  </a:lnTo>
                  <a:lnTo>
                    <a:pt x="0" y="2767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675" r="-58675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3267456" cy="2805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DEPI Graduate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254247" y="8802119"/>
            <a:ext cx="464315" cy="464315"/>
            <a:chOff x="0" y="0"/>
            <a:chExt cx="619087" cy="619087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619125" cy="618998"/>
            </a:xfrm>
            <a:custGeom>
              <a:avLst/>
              <a:gdLst/>
              <a:ahLst/>
              <a:cxnLst/>
              <a:rect l="l" t="t" r="r" b="b"/>
              <a:pathLst>
                <a:path w="619125" h="618998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7393943" y="2949959"/>
            <a:ext cx="3134363" cy="6668967"/>
            <a:chOff x="0" y="0"/>
            <a:chExt cx="4179151" cy="8891956"/>
          </a:xfrm>
        </p:grpSpPr>
        <p:sp>
          <p:nvSpPr>
            <p:cNvPr id="83" name="Freeform 83"/>
            <p:cNvSpPr/>
            <p:nvPr/>
          </p:nvSpPr>
          <p:spPr>
            <a:xfrm>
              <a:off x="16891" y="16891"/>
              <a:ext cx="4145280" cy="8858123"/>
            </a:xfrm>
            <a:custGeom>
              <a:avLst/>
              <a:gdLst/>
              <a:ahLst/>
              <a:cxnLst/>
              <a:rect l="l" t="t" r="r" b="b"/>
              <a:pathLst>
                <a:path w="4145280" h="8858123">
                  <a:moveTo>
                    <a:pt x="0" y="0"/>
                  </a:moveTo>
                  <a:lnTo>
                    <a:pt x="4145280" y="0"/>
                  </a:lnTo>
                  <a:lnTo>
                    <a:pt x="4145280" y="8858123"/>
                  </a:lnTo>
                  <a:lnTo>
                    <a:pt x="0" y="88581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0" y="0"/>
              <a:ext cx="4179062" cy="8891905"/>
            </a:xfrm>
            <a:custGeom>
              <a:avLst/>
              <a:gdLst/>
              <a:ahLst/>
              <a:cxnLst/>
              <a:rect l="l" t="t" r="r" b="b"/>
              <a:pathLst>
                <a:path w="4179062" h="8891905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8875014"/>
                  </a:lnTo>
                  <a:cubicBezTo>
                    <a:pt x="4179062" y="8884412"/>
                    <a:pt x="4171442" y="8891905"/>
                    <a:pt x="4162171" y="8891905"/>
                  </a:cubicBezTo>
                  <a:lnTo>
                    <a:pt x="16891" y="8891905"/>
                  </a:lnTo>
                  <a:cubicBezTo>
                    <a:pt x="7493" y="8891905"/>
                    <a:pt x="0" y="8884285"/>
                    <a:pt x="0" y="887501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75014"/>
                  </a:lnTo>
                  <a:lnTo>
                    <a:pt x="16891" y="8875014"/>
                  </a:lnTo>
                  <a:lnTo>
                    <a:pt x="16891" y="8858123"/>
                  </a:lnTo>
                  <a:lnTo>
                    <a:pt x="4162171" y="8858123"/>
                  </a:lnTo>
                  <a:lnTo>
                    <a:pt x="4162171" y="8875014"/>
                  </a:lnTo>
                  <a:lnTo>
                    <a:pt x="4145280" y="8875014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7393943" y="2949959"/>
            <a:ext cx="3134363" cy="354587"/>
            <a:chOff x="0" y="0"/>
            <a:chExt cx="4179151" cy="472783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4145280" cy="438912"/>
            </a:xfrm>
            <a:custGeom>
              <a:avLst/>
              <a:gdLst/>
              <a:ahLst/>
              <a:cxnLst/>
              <a:rect l="l" t="t" r="r" b="b"/>
              <a:pathLst>
                <a:path w="4145280" h="438912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4179062" cy="472696"/>
            </a:xfrm>
            <a:custGeom>
              <a:avLst/>
              <a:gdLst/>
              <a:ahLst/>
              <a:cxnLst/>
              <a:rect l="l" t="t" r="r" b="b"/>
              <a:pathLst>
                <a:path w="4179062" h="47269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455803"/>
                  </a:lnTo>
                  <a:cubicBezTo>
                    <a:pt x="4179062" y="465201"/>
                    <a:pt x="4171442" y="472694"/>
                    <a:pt x="41621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162171" y="438912"/>
                  </a:lnTo>
                  <a:lnTo>
                    <a:pt x="4162171" y="455803"/>
                  </a:lnTo>
                  <a:lnTo>
                    <a:pt x="4145280" y="45580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7997447" y="3498599"/>
            <a:ext cx="1927355" cy="1927355"/>
            <a:chOff x="0" y="0"/>
            <a:chExt cx="2569807" cy="2569807"/>
          </a:xfrm>
        </p:grpSpPr>
        <p:sp>
          <p:nvSpPr>
            <p:cNvPr id="89" name="Freeform 89"/>
            <p:cNvSpPr/>
            <p:nvPr/>
          </p:nvSpPr>
          <p:spPr>
            <a:xfrm>
              <a:off x="16891" y="16891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1267968"/>
                  </a:moveTo>
                  <a:cubicBezTo>
                    <a:pt x="0" y="567690"/>
                    <a:pt x="567690" y="0"/>
                    <a:pt x="1267968" y="0"/>
                  </a:cubicBezTo>
                  <a:cubicBezTo>
                    <a:pt x="1968246" y="0"/>
                    <a:pt x="2535936" y="567690"/>
                    <a:pt x="2535936" y="1267968"/>
                  </a:cubicBezTo>
                  <a:cubicBezTo>
                    <a:pt x="2535936" y="1968246"/>
                    <a:pt x="1968246" y="2535936"/>
                    <a:pt x="1267968" y="2535936"/>
                  </a:cubicBezTo>
                  <a:cubicBezTo>
                    <a:pt x="567690" y="2535936"/>
                    <a:pt x="0" y="1968246"/>
                    <a:pt x="0" y="1267968"/>
                  </a:cubicBez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90" name="Freeform 90"/>
            <p:cNvSpPr/>
            <p:nvPr/>
          </p:nvSpPr>
          <p:spPr>
            <a:xfrm>
              <a:off x="0" y="0"/>
              <a:ext cx="2569718" cy="2569718"/>
            </a:xfrm>
            <a:custGeom>
              <a:avLst/>
              <a:gdLst/>
              <a:ahLst/>
              <a:cxnLst/>
              <a:rect l="l" t="t" r="r" b="b"/>
              <a:pathLst>
                <a:path w="2569718" h="2569718">
                  <a:moveTo>
                    <a:pt x="0" y="1284859"/>
                  </a:moveTo>
                  <a:cubicBezTo>
                    <a:pt x="0" y="575310"/>
                    <a:pt x="575310" y="0"/>
                    <a:pt x="1284859" y="0"/>
                  </a:cubicBezTo>
                  <a:lnTo>
                    <a:pt x="1284859" y="16891"/>
                  </a:lnTo>
                  <a:lnTo>
                    <a:pt x="1284859" y="0"/>
                  </a:lnTo>
                  <a:cubicBezTo>
                    <a:pt x="1994535" y="0"/>
                    <a:pt x="2569718" y="575310"/>
                    <a:pt x="2569718" y="1284859"/>
                  </a:cubicBezTo>
                  <a:lnTo>
                    <a:pt x="2552827" y="1284859"/>
                  </a:lnTo>
                  <a:lnTo>
                    <a:pt x="2569718" y="1284859"/>
                  </a:lnTo>
                  <a:cubicBezTo>
                    <a:pt x="2569718" y="1994535"/>
                    <a:pt x="1994408" y="2569718"/>
                    <a:pt x="1284859" y="2569718"/>
                  </a:cubicBezTo>
                  <a:lnTo>
                    <a:pt x="1284859" y="2552827"/>
                  </a:lnTo>
                  <a:lnTo>
                    <a:pt x="1284859" y="2569718"/>
                  </a:lnTo>
                  <a:cubicBezTo>
                    <a:pt x="575310" y="2569845"/>
                    <a:pt x="0" y="1994535"/>
                    <a:pt x="0" y="1284859"/>
                  </a:cubicBezTo>
                  <a:lnTo>
                    <a:pt x="16891" y="1284859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0" y="1284859"/>
                  </a:lnTo>
                  <a:moveTo>
                    <a:pt x="33909" y="1284859"/>
                  </a:moveTo>
                  <a:cubicBezTo>
                    <a:pt x="33909" y="1294257"/>
                    <a:pt x="26289" y="1301750"/>
                    <a:pt x="17018" y="1301750"/>
                  </a:cubicBezTo>
                  <a:cubicBezTo>
                    <a:pt x="7747" y="1301750"/>
                    <a:pt x="0" y="1294257"/>
                    <a:pt x="0" y="1284859"/>
                  </a:cubicBezTo>
                  <a:cubicBezTo>
                    <a:pt x="0" y="1275461"/>
                    <a:pt x="7620" y="1267968"/>
                    <a:pt x="16891" y="1267968"/>
                  </a:cubicBezTo>
                  <a:cubicBezTo>
                    <a:pt x="26162" y="1267968"/>
                    <a:pt x="33782" y="1275588"/>
                    <a:pt x="33782" y="1284859"/>
                  </a:cubicBezTo>
                  <a:cubicBezTo>
                    <a:pt x="33782" y="1975739"/>
                    <a:pt x="593852" y="2535936"/>
                    <a:pt x="1284859" y="2535936"/>
                  </a:cubicBezTo>
                  <a:cubicBezTo>
                    <a:pt x="1975739" y="2535936"/>
                    <a:pt x="2535936" y="1975866"/>
                    <a:pt x="2535936" y="1284859"/>
                  </a:cubicBezTo>
                  <a:cubicBezTo>
                    <a:pt x="2535936" y="593979"/>
                    <a:pt x="1975866" y="33782"/>
                    <a:pt x="1284859" y="33782"/>
                  </a:cubicBezTo>
                  <a:lnTo>
                    <a:pt x="1284859" y="16891"/>
                  </a:lnTo>
                  <a:lnTo>
                    <a:pt x="1284859" y="33909"/>
                  </a:lnTo>
                  <a:cubicBezTo>
                    <a:pt x="593979" y="33909"/>
                    <a:pt x="33782" y="593979"/>
                    <a:pt x="33782" y="1284986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91" name="Group 91"/>
          <p:cNvGrpSpPr/>
          <p:nvPr/>
        </p:nvGrpSpPr>
        <p:grpSpPr>
          <a:xfrm>
            <a:off x="8010144" y="3511296"/>
            <a:ext cx="1901952" cy="1901952"/>
            <a:chOff x="0" y="0"/>
            <a:chExt cx="2535936" cy="253593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123825"/>
              <a:ext cx="2535936" cy="2659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2D7D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862823" y="3352295"/>
            <a:ext cx="610619" cy="610619"/>
            <a:chOff x="0" y="0"/>
            <a:chExt cx="814159" cy="814159"/>
          </a:xfrm>
        </p:grpSpPr>
        <p:sp>
          <p:nvSpPr>
            <p:cNvPr id="95" name="Freeform 95"/>
            <p:cNvSpPr/>
            <p:nvPr/>
          </p:nvSpPr>
          <p:spPr>
            <a:xfrm>
              <a:off x="16891" y="16891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96" name="Freeform 96"/>
            <p:cNvSpPr/>
            <p:nvPr/>
          </p:nvSpPr>
          <p:spPr>
            <a:xfrm>
              <a:off x="0" y="0"/>
              <a:ext cx="814070" cy="814070"/>
            </a:xfrm>
            <a:custGeom>
              <a:avLst/>
              <a:gdLst/>
              <a:ahLst/>
              <a:cxnLst/>
              <a:rect l="l" t="t" r="r" b="b"/>
              <a:pathLst>
                <a:path w="814070" h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97" name="Group 97"/>
          <p:cNvGrpSpPr/>
          <p:nvPr/>
        </p:nvGrpSpPr>
        <p:grpSpPr>
          <a:xfrm>
            <a:off x="9875520" y="3364992"/>
            <a:ext cx="585216" cy="585216"/>
            <a:chOff x="0" y="0"/>
            <a:chExt cx="780288" cy="78028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7498080" y="5669280"/>
            <a:ext cx="2926080" cy="877824"/>
            <a:chOff x="0" y="0"/>
            <a:chExt cx="3901440" cy="1170432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3901440" cy="1170432"/>
            </a:xfrm>
            <a:custGeom>
              <a:avLst/>
              <a:gdLst/>
              <a:ahLst/>
              <a:cxnLst/>
              <a:rect l="l" t="t" r="r" b="b"/>
              <a:pathLst>
                <a:path w="3901440" h="1170432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102" name="TextBox 102"/>
            <p:cNvSpPr txBox="1"/>
            <p:nvPr/>
          </p:nvSpPr>
          <p:spPr>
            <a:xfrm>
              <a:off x="0" y="-57150"/>
              <a:ext cx="390144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Basma Maged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851143" y="6662423"/>
            <a:ext cx="2219963" cy="71123"/>
            <a:chOff x="0" y="0"/>
            <a:chExt cx="2959951" cy="94831"/>
          </a:xfrm>
        </p:grpSpPr>
        <p:sp>
          <p:nvSpPr>
            <p:cNvPr id="104" name="Freeform 104"/>
            <p:cNvSpPr/>
            <p:nvPr/>
          </p:nvSpPr>
          <p:spPr>
            <a:xfrm>
              <a:off x="16891" y="16891"/>
              <a:ext cx="2926080" cy="60960"/>
            </a:xfrm>
            <a:custGeom>
              <a:avLst/>
              <a:gdLst/>
              <a:ahLst/>
              <a:cxnLst/>
              <a:rect l="l" t="t" r="r" b="b"/>
              <a:pathLst>
                <a:path w="2926080" h="60960">
                  <a:moveTo>
                    <a:pt x="0" y="0"/>
                  </a:moveTo>
                  <a:lnTo>
                    <a:pt x="2926080" y="0"/>
                  </a:lnTo>
                  <a:lnTo>
                    <a:pt x="29260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2959862" cy="94744"/>
            </a:xfrm>
            <a:custGeom>
              <a:avLst/>
              <a:gdLst/>
              <a:ahLst/>
              <a:cxnLst/>
              <a:rect l="l" t="t" r="r" b="b"/>
              <a:pathLst>
                <a:path w="2959862" h="9474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7851"/>
                  </a:lnTo>
                  <a:cubicBezTo>
                    <a:pt x="2959862" y="87249"/>
                    <a:pt x="2952242" y="94742"/>
                    <a:pt x="294297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942971" y="60960"/>
                  </a:lnTo>
                  <a:lnTo>
                    <a:pt x="2942971" y="77851"/>
                  </a:lnTo>
                  <a:lnTo>
                    <a:pt x="2926080" y="7785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6" name="Group 106"/>
          <p:cNvGrpSpPr/>
          <p:nvPr/>
        </p:nvGrpSpPr>
        <p:grpSpPr>
          <a:xfrm>
            <a:off x="7654795" y="7014210"/>
            <a:ext cx="2475995" cy="793499"/>
            <a:chOff x="0" y="0"/>
            <a:chExt cx="3301327" cy="1057999"/>
          </a:xfrm>
        </p:grpSpPr>
        <p:sp>
          <p:nvSpPr>
            <p:cNvPr id="107" name="Freeform 107"/>
            <p:cNvSpPr/>
            <p:nvPr/>
          </p:nvSpPr>
          <p:spPr>
            <a:xfrm>
              <a:off x="16891" y="16891"/>
              <a:ext cx="3267456" cy="1024128"/>
            </a:xfrm>
            <a:custGeom>
              <a:avLst/>
              <a:gdLst/>
              <a:ahLst/>
              <a:cxnLst/>
              <a:rect l="l" t="t" r="r" b="b"/>
              <a:pathLst>
                <a:path w="3267456" h="1024128">
                  <a:moveTo>
                    <a:pt x="0" y="0"/>
                  </a:moveTo>
                  <a:lnTo>
                    <a:pt x="3267456" y="0"/>
                  </a:lnTo>
                  <a:lnTo>
                    <a:pt x="326745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108" name="Freeform 108"/>
            <p:cNvSpPr/>
            <p:nvPr/>
          </p:nvSpPr>
          <p:spPr>
            <a:xfrm>
              <a:off x="0" y="0"/>
              <a:ext cx="3301238" cy="1057912"/>
            </a:xfrm>
            <a:custGeom>
              <a:avLst/>
              <a:gdLst/>
              <a:ahLst/>
              <a:cxnLst/>
              <a:rect l="l" t="t" r="r" b="b"/>
              <a:pathLst>
                <a:path w="3301238" h="1057912">
                  <a:moveTo>
                    <a:pt x="16891" y="0"/>
                  </a:moveTo>
                  <a:lnTo>
                    <a:pt x="3284347" y="0"/>
                  </a:lnTo>
                  <a:cubicBezTo>
                    <a:pt x="3293745" y="0"/>
                    <a:pt x="3301238" y="7620"/>
                    <a:pt x="3301238" y="16891"/>
                  </a:cubicBezTo>
                  <a:lnTo>
                    <a:pt x="3301238" y="1041019"/>
                  </a:lnTo>
                  <a:cubicBezTo>
                    <a:pt x="3301238" y="1050417"/>
                    <a:pt x="3293618" y="1057910"/>
                    <a:pt x="328434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3284347" y="1024128"/>
                  </a:lnTo>
                  <a:lnTo>
                    <a:pt x="3284347" y="1041019"/>
                  </a:lnTo>
                  <a:lnTo>
                    <a:pt x="3267456" y="1041019"/>
                  </a:lnTo>
                  <a:lnTo>
                    <a:pt x="3267456" y="16891"/>
                  </a:lnTo>
                  <a:lnTo>
                    <a:pt x="3284347" y="16891"/>
                  </a:lnTo>
                  <a:lnTo>
                    <a:pt x="3284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7763256" y="5908434"/>
            <a:ext cx="2450592" cy="3050677"/>
            <a:chOff x="0" y="0"/>
            <a:chExt cx="3267456" cy="4067569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3267456" cy="4067573"/>
            </a:xfrm>
            <a:custGeom>
              <a:avLst/>
              <a:gdLst/>
              <a:ahLst/>
              <a:cxnLst/>
              <a:rect l="l" t="t" r="r" b="b"/>
              <a:pathLst>
                <a:path w="3267456" h="4067573">
                  <a:moveTo>
                    <a:pt x="0" y="0"/>
                  </a:moveTo>
                  <a:lnTo>
                    <a:pt x="3267456" y="0"/>
                  </a:lnTo>
                  <a:lnTo>
                    <a:pt x="3267456" y="4067573"/>
                  </a:lnTo>
                  <a:lnTo>
                    <a:pt x="0" y="40675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9721" r="-109721"/>
              </a:stretch>
            </a:blipFill>
          </p:spPr>
        </p:sp>
        <p:sp>
          <p:nvSpPr>
            <p:cNvPr id="111" name="TextBox 111"/>
            <p:cNvSpPr txBox="1"/>
            <p:nvPr/>
          </p:nvSpPr>
          <p:spPr>
            <a:xfrm>
              <a:off x="0" y="-38100"/>
              <a:ext cx="3267456" cy="41056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DEPI Graduate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728967" y="8802119"/>
            <a:ext cx="464315" cy="464315"/>
            <a:chOff x="0" y="0"/>
            <a:chExt cx="619087" cy="619087"/>
          </a:xfrm>
        </p:grpSpPr>
        <p:sp>
          <p:nvSpPr>
            <p:cNvPr id="113" name="Freeform 113"/>
            <p:cNvSpPr/>
            <p:nvPr/>
          </p:nvSpPr>
          <p:spPr>
            <a:xfrm>
              <a:off x="16891" y="16891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114" name="Freeform 114"/>
            <p:cNvSpPr/>
            <p:nvPr/>
          </p:nvSpPr>
          <p:spPr>
            <a:xfrm>
              <a:off x="0" y="0"/>
              <a:ext cx="619125" cy="618998"/>
            </a:xfrm>
            <a:custGeom>
              <a:avLst/>
              <a:gdLst/>
              <a:ahLst/>
              <a:cxnLst/>
              <a:rect l="l" t="t" r="r" b="b"/>
              <a:pathLst>
                <a:path w="619125" h="618998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115" name="Group 115"/>
          <p:cNvGrpSpPr/>
          <p:nvPr/>
        </p:nvGrpSpPr>
        <p:grpSpPr>
          <a:xfrm>
            <a:off x="10868663" y="2949959"/>
            <a:ext cx="3134363" cy="6668967"/>
            <a:chOff x="0" y="0"/>
            <a:chExt cx="4179151" cy="8891956"/>
          </a:xfrm>
        </p:grpSpPr>
        <p:sp>
          <p:nvSpPr>
            <p:cNvPr id="116" name="Freeform 116"/>
            <p:cNvSpPr/>
            <p:nvPr/>
          </p:nvSpPr>
          <p:spPr>
            <a:xfrm>
              <a:off x="16891" y="16891"/>
              <a:ext cx="4145280" cy="8858123"/>
            </a:xfrm>
            <a:custGeom>
              <a:avLst/>
              <a:gdLst/>
              <a:ahLst/>
              <a:cxnLst/>
              <a:rect l="l" t="t" r="r" b="b"/>
              <a:pathLst>
                <a:path w="4145280" h="8858123">
                  <a:moveTo>
                    <a:pt x="0" y="0"/>
                  </a:moveTo>
                  <a:lnTo>
                    <a:pt x="4145280" y="0"/>
                  </a:lnTo>
                  <a:lnTo>
                    <a:pt x="4145280" y="8858123"/>
                  </a:lnTo>
                  <a:lnTo>
                    <a:pt x="0" y="885812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4179062" cy="8891905"/>
            </a:xfrm>
            <a:custGeom>
              <a:avLst/>
              <a:gdLst/>
              <a:ahLst/>
              <a:cxnLst/>
              <a:rect l="l" t="t" r="r" b="b"/>
              <a:pathLst>
                <a:path w="4179062" h="8891905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8875014"/>
                  </a:lnTo>
                  <a:cubicBezTo>
                    <a:pt x="4179062" y="8884412"/>
                    <a:pt x="4171442" y="8891905"/>
                    <a:pt x="4162171" y="8891905"/>
                  </a:cubicBezTo>
                  <a:lnTo>
                    <a:pt x="16891" y="8891905"/>
                  </a:lnTo>
                  <a:cubicBezTo>
                    <a:pt x="7493" y="8891905"/>
                    <a:pt x="0" y="8884285"/>
                    <a:pt x="0" y="8875014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875014"/>
                  </a:lnTo>
                  <a:lnTo>
                    <a:pt x="16891" y="8875014"/>
                  </a:lnTo>
                  <a:lnTo>
                    <a:pt x="16891" y="8858123"/>
                  </a:lnTo>
                  <a:lnTo>
                    <a:pt x="4162171" y="8858123"/>
                  </a:lnTo>
                  <a:lnTo>
                    <a:pt x="4162171" y="8875014"/>
                  </a:lnTo>
                  <a:lnTo>
                    <a:pt x="4145280" y="8875014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18" name="Group 118"/>
          <p:cNvGrpSpPr/>
          <p:nvPr/>
        </p:nvGrpSpPr>
        <p:grpSpPr>
          <a:xfrm>
            <a:off x="10868663" y="2949959"/>
            <a:ext cx="3134363" cy="354587"/>
            <a:chOff x="0" y="0"/>
            <a:chExt cx="4179151" cy="472783"/>
          </a:xfrm>
        </p:grpSpPr>
        <p:sp>
          <p:nvSpPr>
            <p:cNvPr id="119" name="Freeform 119"/>
            <p:cNvSpPr/>
            <p:nvPr/>
          </p:nvSpPr>
          <p:spPr>
            <a:xfrm>
              <a:off x="16891" y="16891"/>
              <a:ext cx="4145280" cy="438912"/>
            </a:xfrm>
            <a:custGeom>
              <a:avLst/>
              <a:gdLst/>
              <a:ahLst/>
              <a:cxnLst/>
              <a:rect l="l" t="t" r="r" b="b"/>
              <a:pathLst>
                <a:path w="4145280" h="438912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120" name="Freeform 120"/>
            <p:cNvSpPr/>
            <p:nvPr/>
          </p:nvSpPr>
          <p:spPr>
            <a:xfrm>
              <a:off x="0" y="0"/>
              <a:ext cx="4179062" cy="472696"/>
            </a:xfrm>
            <a:custGeom>
              <a:avLst/>
              <a:gdLst/>
              <a:ahLst/>
              <a:cxnLst/>
              <a:rect l="l" t="t" r="r" b="b"/>
              <a:pathLst>
                <a:path w="4179062" h="47269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455803"/>
                  </a:lnTo>
                  <a:cubicBezTo>
                    <a:pt x="4179062" y="465201"/>
                    <a:pt x="4171442" y="472694"/>
                    <a:pt x="41621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162171" y="438912"/>
                  </a:lnTo>
                  <a:lnTo>
                    <a:pt x="4162171" y="455803"/>
                  </a:lnTo>
                  <a:lnTo>
                    <a:pt x="4145280" y="45580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1472167" y="3498599"/>
            <a:ext cx="1927355" cy="1927355"/>
            <a:chOff x="0" y="0"/>
            <a:chExt cx="2569807" cy="2569807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1267968"/>
                  </a:moveTo>
                  <a:cubicBezTo>
                    <a:pt x="0" y="567690"/>
                    <a:pt x="567690" y="0"/>
                    <a:pt x="1267968" y="0"/>
                  </a:cubicBezTo>
                  <a:cubicBezTo>
                    <a:pt x="1968246" y="0"/>
                    <a:pt x="2535936" y="567690"/>
                    <a:pt x="2535936" y="1267968"/>
                  </a:cubicBezTo>
                  <a:cubicBezTo>
                    <a:pt x="2535936" y="1968246"/>
                    <a:pt x="1968246" y="2535936"/>
                    <a:pt x="1267968" y="2535936"/>
                  </a:cubicBezTo>
                  <a:cubicBezTo>
                    <a:pt x="567690" y="2535936"/>
                    <a:pt x="0" y="1968246"/>
                    <a:pt x="0" y="1267968"/>
                  </a:cubicBez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2569718" cy="2569718"/>
            </a:xfrm>
            <a:custGeom>
              <a:avLst/>
              <a:gdLst/>
              <a:ahLst/>
              <a:cxnLst/>
              <a:rect l="l" t="t" r="r" b="b"/>
              <a:pathLst>
                <a:path w="2569718" h="2569718">
                  <a:moveTo>
                    <a:pt x="0" y="1284859"/>
                  </a:moveTo>
                  <a:cubicBezTo>
                    <a:pt x="0" y="575310"/>
                    <a:pt x="575310" y="0"/>
                    <a:pt x="1284859" y="0"/>
                  </a:cubicBezTo>
                  <a:lnTo>
                    <a:pt x="1284859" y="16891"/>
                  </a:lnTo>
                  <a:lnTo>
                    <a:pt x="1284859" y="0"/>
                  </a:lnTo>
                  <a:cubicBezTo>
                    <a:pt x="1994535" y="0"/>
                    <a:pt x="2569718" y="575310"/>
                    <a:pt x="2569718" y="1284859"/>
                  </a:cubicBezTo>
                  <a:lnTo>
                    <a:pt x="2552827" y="1284859"/>
                  </a:lnTo>
                  <a:lnTo>
                    <a:pt x="2569718" y="1284859"/>
                  </a:lnTo>
                  <a:cubicBezTo>
                    <a:pt x="2569718" y="1994535"/>
                    <a:pt x="1994408" y="2569718"/>
                    <a:pt x="1284859" y="2569718"/>
                  </a:cubicBezTo>
                  <a:lnTo>
                    <a:pt x="1284859" y="2552827"/>
                  </a:lnTo>
                  <a:lnTo>
                    <a:pt x="1284859" y="2569718"/>
                  </a:lnTo>
                  <a:cubicBezTo>
                    <a:pt x="575310" y="2569845"/>
                    <a:pt x="0" y="1994535"/>
                    <a:pt x="0" y="1284859"/>
                  </a:cubicBezTo>
                  <a:lnTo>
                    <a:pt x="16891" y="1284859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0" y="1284859"/>
                  </a:lnTo>
                  <a:moveTo>
                    <a:pt x="33909" y="1284859"/>
                  </a:moveTo>
                  <a:cubicBezTo>
                    <a:pt x="33909" y="1294257"/>
                    <a:pt x="26289" y="1301750"/>
                    <a:pt x="17018" y="1301750"/>
                  </a:cubicBezTo>
                  <a:cubicBezTo>
                    <a:pt x="7747" y="1301750"/>
                    <a:pt x="0" y="1294257"/>
                    <a:pt x="0" y="1284859"/>
                  </a:cubicBezTo>
                  <a:cubicBezTo>
                    <a:pt x="0" y="1275461"/>
                    <a:pt x="7620" y="1267968"/>
                    <a:pt x="16891" y="1267968"/>
                  </a:cubicBezTo>
                  <a:cubicBezTo>
                    <a:pt x="26162" y="1267968"/>
                    <a:pt x="33782" y="1275588"/>
                    <a:pt x="33782" y="1284859"/>
                  </a:cubicBezTo>
                  <a:cubicBezTo>
                    <a:pt x="33782" y="1975739"/>
                    <a:pt x="593852" y="2535936"/>
                    <a:pt x="1284859" y="2535936"/>
                  </a:cubicBezTo>
                  <a:cubicBezTo>
                    <a:pt x="1975739" y="2535936"/>
                    <a:pt x="2535936" y="1975866"/>
                    <a:pt x="2535936" y="1284859"/>
                  </a:cubicBezTo>
                  <a:cubicBezTo>
                    <a:pt x="2535936" y="593979"/>
                    <a:pt x="1975866" y="33782"/>
                    <a:pt x="1284859" y="33782"/>
                  </a:cubicBezTo>
                  <a:lnTo>
                    <a:pt x="1284859" y="16891"/>
                  </a:lnTo>
                  <a:lnTo>
                    <a:pt x="1284859" y="33909"/>
                  </a:lnTo>
                  <a:cubicBezTo>
                    <a:pt x="593979" y="33909"/>
                    <a:pt x="33782" y="593979"/>
                    <a:pt x="33782" y="128498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11484864" y="3511296"/>
            <a:ext cx="1901952" cy="1901952"/>
            <a:chOff x="0" y="0"/>
            <a:chExt cx="2535936" cy="253593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123825"/>
              <a:ext cx="2535936" cy="2659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8B5CF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3337543" y="3352295"/>
            <a:ext cx="610619" cy="610619"/>
            <a:chOff x="0" y="0"/>
            <a:chExt cx="814159" cy="814159"/>
          </a:xfrm>
        </p:grpSpPr>
        <p:sp>
          <p:nvSpPr>
            <p:cNvPr id="128" name="Freeform 128"/>
            <p:cNvSpPr/>
            <p:nvPr/>
          </p:nvSpPr>
          <p:spPr>
            <a:xfrm>
              <a:off x="16891" y="16891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814070" cy="814070"/>
            </a:xfrm>
            <a:custGeom>
              <a:avLst/>
              <a:gdLst/>
              <a:ahLst/>
              <a:cxnLst/>
              <a:rect l="l" t="t" r="r" b="b"/>
              <a:pathLst>
                <a:path w="814070" h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13350240" y="3364992"/>
            <a:ext cx="585216" cy="585216"/>
            <a:chOff x="0" y="0"/>
            <a:chExt cx="780288" cy="780288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0972800" y="5669280"/>
            <a:ext cx="2926080" cy="877824"/>
            <a:chOff x="0" y="0"/>
            <a:chExt cx="3901440" cy="1170432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3901440" cy="1170432"/>
            </a:xfrm>
            <a:custGeom>
              <a:avLst/>
              <a:gdLst/>
              <a:ahLst/>
              <a:cxnLst/>
              <a:rect l="l" t="t" r="r" b="b"/>
              <a:pathLst>
                <a:path w="3901440" h="1170432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135" name="TextBox 135"/>
            <p:cNvSpPr txBox="1"/>
            <p:nvPr/>
          </p:nvSpPr>
          <p:spPr>
            <a:xfrm>
              <a:off x="0" y="-57150"/>
              <a:ext cx="390144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Eman Soliman 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1325863" y="6662423"/>
            <a:ext cx="2219963" cy="71123"/>
            <a:chOff x="0" y="0"/>
            <a:chExt cx="2959951" cy="94831"/>
          </a:xfrm>
        </p:grpSpPr>
        <p:sp>
          <p:nvSpPr>
            <p:cNvPr id="137" name="Freeform 137"/>
            <p:cNvSpPr/>
            <p:nvPr/>
          </p:nvSpPr>
          <p:spPr>
            <a:xfrm>
              <a:off x="16891" y="16891"/>
              <a:ext cx="2926080" cy="60960"/>
            </a:xfrm>
            <a:custGeom>
              <a:avLst/>
              <a:gdLst/>
              <a:ahLst/>
              <a:cxnLst/>
              <a:rect l="l" t="t" r="r" b="b"/>
              <a:pathLst>
                <a:path w="2926080" h="60960">
                  <a:moveTo>
                    <a:pt x="0" y="0"/>
                  </a:moveTo>
                  <a:lnTo>
                    <a:pt x="2926080" y="0"/>
                  </a:lnTo>
                  <a:lnTo>
                    <a:pt x="29260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38" name="Freeform 138"/>
            <p:cNvSpPr/>
            <p:nvPr/>
          </p:nvSpPr>
          <p:spPr>
            <a:xfrm>
              <a:off x="0" y="0"/>
              <a:ext cx="2959862" cy="94744"/>
            </a:xfrm>
            <a:custGeom>
              <a:avLst/>
              <a:gdLst/>
              <a:ahLst/>
              <a:cxnLst/>
              <a:rect l="l" t="t" r="r" b="b"/>
              <a:pathLst>
                <a:path w="2959862" h="9474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7851"/>
                  </a:lnTo>
                  <a:cubicBezTo>
                    <a:pt x="2959862" y="87249"/>
                    <a:pt x="2952242" y="94742"/>
                    <a:pt x="294297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942971" y="60960"/>
                  </a:lnTo>
                  <a:lnTo>
                    <a:pt x="2942971" y="77851"/>
                  </a:lnTo>
                  <a:lnTo>
                    <a:pt x="2926080" y="7785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9" name="Group 139"/>
          <p:cNvGrpSpPr/>
          <p:nvPr/>
        </p:nvGrpSpPr>
        <p:grpSpPr>
          <a:xfrm>
            <a:off x="11156242" y="6982463"/>
            <a:ext cx="2475995" cy="793499"/>
            <a:chOff x="0" y="0"/>
            <a:chExt cx="3301327" cy="1057999"/>
          </a:xfrm>
        </p:grpSpPr>
        <p:sp>
          <p:nvSpPr>
            <p:cNvPr id="140" name="Freeform 140"/>
            <p:cNvSpPr/>
            <p:nvPr/>
          </p:nvSpPr>
          <p:spPr>
            <a:xfrm>
              <a:off x="16891" y="16891"/>
              <a:ext cx="3267456" cy="1024128"/>
            </a:xfrm>
            <a:custGeom>
              <a:avLst/>
              <a:gdLst/>
              <a:ahLst/>
              <a:cxnLst/>
              <a:rect l="l" t="t" r="r" b="b"/>
              <a:pathLst>
                <a:path w="3267456" h="1024128">
                  <a:moveTo>
                    <a:pt x="0" y="0"/>
                  </a:moveTo>
                  <a:lnTo>
                    <a:pt x="3267456" y="0"/>
                  </a:lnTo>
                  <a:lnTo>
                    <a:pt x="326745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141" name="Freeform 141"/>
            <p:cNvSpPr/>
            <p:nvPr/>
          </p:nvSpPr>
          <p:spPr>
            <a:xfrm>
              <a:off x="0" y="0"/>
              <a:ext cx="3301238" cy="1057912"/>
            </a:xfrm>
            <a:custGeom>
              <a:avLst/>
              <a:gdLst/>
              <a:ahLst/>
              <a:cxnLst/>
              <a:rect l="l" t="t" r="r" b="b"/>
              <a:pathLst>
                <a:path w="3301238" h="1057912">
                  <a:moveTo>
                    <a:pt x="16891" y="0"/>
                  </a:moveTo>
                  <a:lnTo>
                    <a:pt x="3284347" y="0"/>
                  </a:lnTo>
                  <a:cubicBezTo>
                    <a:pt x="3293745" y="0"/>
                    <a:pt x="3301238" y="7620"/>
                    <a:pt x="3301238" y="16891"/>
                  </a:cubicBezTo>
                  <a:lnTo>
                    <a:pt x="3301238" y="1041019"/>
                  </a:lnTo>
                  <a:cubicBezTo>
                    <a:pt x="3301238" y="1050417"/>
                    <a:pt x="3293618" y="1057910"/>
                    <a:pt x="328434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3284347" y="1024128"/>
                  </a:lnTo>
                  <a:lnTo>
                    <a:pt x="3284347" y="1041019"/>
                  </a:lnTo>
                  <a:lnTo>
                    <a:pt x="3267456" y="1041019"/>
                  </a:lnTo>
                  <a:lnTo>
                    <a:pt x="3267456" y="16891"/>
                  </a:lnTo>
                  <a:lnTo>
                    <a:pt x="3284347" y="16891"/>
                  </a:lnTo>
                  <a:lnTo>
                    <a:pt x="3284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42" name="Group 142"/>
          <p:cNvGrpSpPr/>
          <p:nvPr/>
        </p:nvGrpSpPr>
        <p:grpSpPr>
          <a:xfrm>
            <a:off x="11210544" y="6409944"/>
            <a:ext cx="2450592" cy="2075688"/>
            <a:chOff x="0" y="0"/>
            <a:chExt cx="3267456" cy="2767584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3267456" cy="2767584"/>
            </a:xfrm>
            <a:custGeom>
              <a:avLst/>
              <a:gdLst/>
              <a:ahLst/>
              <a:cxnLst/>
              <a:rect l="l" t="t" r="r" b="b"/>
              <a:pathLst>
                <a:path w="3267456" h="2767584">
                  <a:moveTo>
                    <a:pt x="0" y="0"/>
                  </a:moveTo>
                  <a:lnTo>
                    <a:pt x="3267456" y="0"/>
                  </a:lnTo>
                  <a:lnTo>
                    <a:pt x="3267456" y="2767584"/>
                  </a:lnTo>
                  <a:lnTo>
                    <a:pt x="0" y="2767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675" r="-58675"/>
              </a:stretch>
            </a:blipFill>
          </p:spPr>
        </p:sp>
        <p:sp>
          <p:nvSpPr>
            <p:cNvPr id="144" name="TextBox 144"/>
            <p:cNvSpPr txBox="1"/>
            <p:nvPr/>
          </p:nvSpPr>
          <p:spPr>
            <a:xfrm>
              <a:off x="0" y="-38100"/>
              <a:ext cx="3267456" cy="2805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DEPI Graduate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2203687" y="8802119"/>
            <a:ext cx="464315" cy="464315"/>
            <a:chOff x="0" y="0"/>
            <a:chExt cx="619087" cy="619087"/>
          </a:xfrm>
        </p:grpSpPr>
        <p:sp>
          <p:nvSpPr>
            <p:cNvPr id="146" name="Freeform 146"/>
            <p:cNvSpPr/>
            <p:nvPr/>
          </p:nvSpPr>
          <p:spPr>
            <a:xfrm>
              <a:off x="16891" y="16891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147" name="Freeform 147"/>
            <p:cNvSpPr/>
            <p:nvPr/>
          </p:nvSpPr>
          <p:spPr>
            <a:xfrm>
              <a:off x="0" y="0"/>
              <a:ext cx="619125" cy="618998"/>
            </a:xfrm>
            <a:custGeom>
              <a:avLst/>
              <a:gdLst/>
              <a:ahLst/>
              <a:cxnLst/>
              <a:rect l="l" t="t" r="r" b="b"/>
              <a:pathLst>
                <a:path w="619125" h="618998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148" name="Group 148"/>
          <p:cNvGrpSpPr/>
          <p:nvPr/>
        </p:nvGrpSpPr>
        <p:grpSpPr>
          <a:xfrm>
            <a:off x="14343383" y="2785367"/>
            <a:ext cx="3134363" cy="6833559"/>
            <a:chOff x="0" y="0"/>
            <a:chExt cx="4179151" cy="9111412"/>
          </a:xfrm>
        </p:grpSpPr>
        <p:sp>
          <p:nvSpPr>
            <p:cNvPr id="149" name="Freeform 149"/>
            <p:cNvSpPr/>
            <p:nvPr/>
          </p:nvSpPr>
          <p:spPr>
            <a:xfrm>
              <a:off x="16891" y="16891"/>
              <a:ext cx="4145280" cy="9077579"/>
            </a:xfrm>
            <a:custGeom>
              <a:avLst/>
              <a:gdLst/>
              <a:ahLst/>
              <a:cxnLst/>
              <a:rect l="l" t="t" r="r" b="b"/>
              <a:pathLst>
                <a:path w="4145280" h="9077579">
                  <a:moveTo>
                    <a:pt x="0" y="0"/>
                  </a:moveTo>
                  <a:lnTo>
                    <a:pt x="4145280" y="0"/>
                  </a:lnTo>
                  <a:lnTo>
                    <a:pt x="4145280" y="9077579"/>
                  </a:lnTo>
                  <a:lnTo>
                    <a:pt x="0" y="907757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0" name="Freeform 150"/>
            <p:cNvSpPr/>
            <p:nvPr/>
          </p:nvSpPr>
          <p:spPr>
            <a:xfrm>
              <a:off x="0" y="0"/>
              <a:ext cx="4179062" cy="9111361"/>
            </a:xfrm>
            <a:custGeom>
              <a:avLst/>
              <a:gdLst/>
              <a:ahLst/>
              <a:cxnLst/>
              <a:rect l="l" t="t" r="r" b="b"/>
              <a:pathLst>
                <a:path w="4179062" h="9111361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9094470"/>
                  </a:lnTo>
                  <a:cubicBezTo>
                    <a:pt x="4179062" y="9103868"/>
                    <a:pt x="4171442" y="9111361"/>
                    <a:pt x="4162171" y="9111361"/>
                  </a:cubicBezTo>
                  <a:lnTo>
                    <a:pt x="16891" y="9111361"/>
                  </a:lnTo>
                  <a:cubicBezTo>
                    <a:pt x="7493" y="9111361"/>
                    <a:pt x="0" y="9103740"/>
                    <a:pt x="0" y="909447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94470"/>
                  </a:lnTo>
                  <a:lnTo>
                    <a:pt x="16891" y="9094470"/>
                  </a:lnTo>
                  <a:lnTo>
                    <a:pt x="16891" y="9077578"/>
                  </a:lnTo>
                  <a:lnTo>
                    <a:pt x="4162171" y="9077578"/>
                  </a:lnTo>
                  <a:lnTo>
                    <a:pt x="4162171" y="9094470"/>
                  </a:lnTo>
                  <a:lnTo>
                    <a:pt x="4145280" y="9094470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51" name="Group 151"/>
          <p:cNvGrpSpPr/>
          <p:nvPr/>
        </p:nvGrpSpPr>
        <p:grpSpPr>
          <a:xfrm>
            <a:off x="14343383" y="2949959"/>
            <a:ext cx="3134363" cy="354587"/>
            <a:chOff x="0" y="0"/>
            <a:chExt cx="4179151" cy="472783"/>
          </a:xfrm>
        </p:grpSpPr>
        <p:sp>
          <p:nvSpPr>
            <p:cNvPr id="152" name="Freeform 152"/>
            <p:cNvSpPr/>
            <p:nvPr/>
          </p:nvSpPr>
          <p:spPr>
            <a:xfrm>
              <a:off x="16891" y="16891"/>
              <a:ext cx="4145280" cy="438912"/>
            </a:xfrm>
            <a:custGeom>
              <a:avLst/>
              <a:gdLst/>
              <a:ahLst/>
              <a:cxnLst/>
              <a:rect l="l" t="t" r="r" b="b"/>
              <a:pathLst>
                <a:path w="4145280" h="438912">
                  <a:moveTo>
                    <a:pt x="0" y="0"/>
                  </a:moveTo>
                  <a:lnTo>
                    <a:pt x="4145280" y="0"/>
                  </a:lnTo>
                  <a:lnTo>
                    <a:pt x="414528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53" name="Freeform 153"/>
            <p:cNvSpPr/>
            <p:nvPr/>
          </p:nvSpPr>
          <p:spPr>
            <a:xfrm>
              <a:off x="0" y="0"/>
              <a:ext cx="4179062" cy="472696"/>
            </a:xfrm>
            <a:custGeom>
              <a:avLst/>
              <a:gdLst/>
              <a:ahLst/>
              <a:cxnLst/>
              <a:rect l="l" t="t" r="r" b="b"/>
              <a:pathLst>
                <a:path w="4179062" h="472696">
                  <a:moveTo>
                    <a:pt x="16891" y="0"/>
                  </a:moveTo>
                  <a:lnTo>
                    <a:pt x="4162171" y="0"/>
                  </a:lnTo>
                  <a:cubicBezTo>
                    <a:pt x="4171569" y="0"/>
                    <a:pt x="4179062" y="7620"/>
                    <a:pt x="4179062" y="16891"/>
                  </a:cubicBezTo>
                  <a:lnTo>
                    <a:pt x="4179062" y="455803"/>
                  </a:lnTo>
                  <a:cubicBezTo>
                    <a:pt x="4179062" y="465201"/>
                    <a:pt x="4171442" y="472694"/>
                    <a:pt x="416217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162171" y="438912"/>
                  </a:lnTo>
                  <a:lnTo>
                    <a:pt x="4162171" y="455803"/>
                  </a:lnTo>
                  <a:lnTo>
                    <a:pt x="4145280" y="455803"/>
                  </a:lnTo>
                  <a:lnTo>
                    <a:pt x="4145280" y="16891"/>
                  </a:lnTo>
                  <a:lnTo>
                    <a:pt x="4162171" y="16891"/>
                  </a:lnTo>
                  <a:lnTo>
                    <a:pt x="4162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54" name="Group 154"/>
          <p:cNvGrpSpPr/>
          <p:nvPr/>
        </p:nvGrpSpPr>
        <p:grpSpPr>
          <a:xfrm>
            <a:off x="14946887" y="3498599"/>
            <a:ext cx="1927355" cy="1927355"/>
            <a:chOff x="0" y="0"/>
            <a:chExt cx="2569807" cy="2569807"/>
          </a:xfrm>
        </p:grpSpPr>
        <p:sp>
          <p:nvSpPr>
            <p:cNvPr id="155" name="Freeform 155"/>
            <p:cNvSpPr/>
            <p:nvPr/>
          </p:nvSpPr>
          <p:spPr>
            <a:xfrm>
              <a:off x="16891" y="16891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1267968"/>
                  </a:moveTo>
                  <a:cubicBezTo>
                    <a:pt x="0" y="567690"/>
                    <a:pt x="567690" y="0"/>
                    <a:pt x="1267968" y="0"/>
                  </a:cubicBezTo>
                  <a:cubicBezTo>
                    <a:pt x="1968246" y="0"/>
                    <a:pt x="2535936" y="567690"/>
                    <a:pt x="2535936" y="1267968"/>
                  </a:cubicBezTo>
                  <a:cubicBezTo>
                    <a:pt x="2535936" y="1968246"/>
                    <a:pt x="1968246" y="2535936"/>
                    <a:pt x="1267968" y="2535936"/>
                  </a:cubicBezTo>
                  <a:cubicBezTo>
                    <a:pt x="567690" y="2535936"/>
                    <a:pt x="0" y="1968246"/>
                    <a:pt x="0" y="1267968"/>
                  </a:cubicBez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156" name="Freeform 156"/>
            <p:cNvSpPr/>
            <p:nvPr/>
          </p:nvSpPr>
          <p:spPr>
            <a:xfrm>
              <a:off x="0" y="0"/>
              <a:ext cx="2569718" cy="2569718"/>
            </a:xfrm>
            <a:custGeom>
              <a:avLst/>
              <a:gdLst/>
              <a:ahLst/>
              <a:cxnLst/>
              <a:rect l="l" t="t" r="r" b="b"/>
              <a:pathLst>
                <a:path w="2569718" h="2569718">
                  <a:moveTo>
                    <a:pt x="0" y="1284859"/>
                  </a:moveTo>
                  <a:cubicBezTo>
                    <a:pt x="0" y="575310"/>
                    <a:pt x="575310" y="0"/>
                    <a:pt x="1284859" y="0"/>
                  </a:cubicBezTo>
                  <a:lnTo>
                    <a:pt x="1284859" y="16891"/>
                  </a:lnTo>
                  <a:lnTo>
                    <a:pt x="1284859" y="0"/>
                  </a:lnTo>
                  <a:cubicBezTo>
                    <a:pt x="1994535" y="0"/>
                    <a:pt x="2569718" y="575310"/>
                    <a:pt x="2569718" y="1284859"/>
                  </a:cubicBezTo>
                  <a:lnTo>
                    <a:pt x="2552827" y="1284859"/>
                  </a:lnTo>
                  <a:lnTo>
                    <a:pt x="2569718" y="1284859"/>
                  </a:lnTo>
                  <a:cubicBezTo>
                    <a:pt x="2569718" y="1994535"/>
                    <a:pt x="1994408" y="2569718"/>
                    <a:pt x="1284859" y="2569718"/>
                  </a:cubicBezTo>
                  <a:lnTo>
                    <a:pt x="1284859" y="2552827"/>
                  </a:lnTo>
                  <a:lnTo>
                    <a:pt x="1284859" y="2569718"/>
                  </a:lnTo>
                  <a:cubicBezTo>
                    <a:pt x="575310" y="2569845"/>
                    <a:pt x="0" y="1994535"/>
                    <a:pt x="0" y="1284859"/>
                  </a:cubicBezTo>
                  <a:lnTo>
                    <a:pt x="16891" y="1284859"/>
                  </a:lnTo>
                  <a:lnTo>
                    <a:pt x="33909" y="1284859"/>
                  </a:lnTo>
                  <a:lnTo>
                    <a:pt x="16891" y="1284859"/>
                  </a:lnTo>
                  <a:lnTo>
                    <a:pt x="0" y="1284859"/>
                  </a:lnTo>
                  <a:moveTo>
                    <a:pt x="33909" y="1284859"/>
                  </a:moveTo>
                  <a:cubicBezTo>
                    <a:pt x="33909" y="1294257"/>
                    <a:pt x="26289" y="1301750"/>
                    <a:pt x="17018" y="1301750"/>
                  </a:cubicBezTo>
                  <a:cubicBezTo>
                    <a:pt x="7747" y="1301750"/>
                    <a:pt x="0" y="1294257"/>
                    <a:pt x="0" y="1284859"/>
                  </a:cubicBezTo>
                  <a:cubicBezTo>
                    <a:pt x="0" y="1275461"/>
                    <a:pt x="7620" y="1267968"/>
                    <a:pt x="16891" y="1267968"/>
                  </a:cubicBezTo>
                  <a:cubicBezTo>
                    <a:pt x="26162" y="1267968"/>
                    <a:pt x="33782" y="1275588"/>
                    <a:pt x="33782" y="1284859"/>
                  </a:cubicBezTo>
                  <a:cubicBezTo>
                    <a:pt x="33782" y="1975739"/>
                    <a:pt x="593852" y="2535936"/>
                    <a:pt x="1284859" y="2535936"/>
                  </a:cubicBezTo>
                  <a:cubicBezTo>
                    <a:pt x="1975739" y="2535936"/>
                    <a:pt x="2535936" y="1975866"/>
                    <a:pt x="2535936" y="1284859"/>
                  </a:cubicBezTo>
                  <a:cubicBezTo>
                    <a:pt x="2535936" y="593979"/>
                    <a:pt x="1975866" y="33782"/>
                    <a:pt x="1284859" y="33782"/>
                  </a:cubicBezTo>
                  <a:lnTo>
                    <a:pt x="1284859" y="16891"/>
                  </a:lnTo>
                  <a:lnTo>
                    <a:pt x="1284859" y="33909"/>
                  </a:lnTo>
                  <a:cubicBezTo>
                    <a:pt x="593979" y="33909"/>
                    <a:pt x="33782" y="593979"/>
                    <a:pt x="33782" y="128498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57" name="Group 157"/>
          <p:cNvGrpSpPr/>
          <p:nvPr/>
        </p:nvGrpSpPr>
        <p:grpSpPr>
          <a:xfrm>
            <a:off x="14959584" y="3511296"/>
            <a:ext cx="1901952" cy="1901952"/>
            <a:chOff x="0" y="0"/>
            <a:chExt cx="2535936" cy="2535936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2535936" cy="2535936"/>
            </a:xfrm>
            <a:custGeom>
              <a:avLst/>
              <a:gdLst/>
              <a:ahLst/>
              <a:cxnLst/>
              <a:rect l="l" t="t" r="r" b="b"/>
              <a:pathLst>
                <a:path w="2535936" h="2535936">
                  <a:moveTo>
                    <a:pt x="0" y="0"/>
                  </a:moveTo>
                  <a:lnTo>
                    <a:pt x="2535936" y="0"/>
                  </a:lnTo>
                  <a:lnTo>
                    <a:pt x="2535936" y="2535936"/>
                  </a:lnTo>
                  <a:lnTo>
                    <a:pt x="0" y="2535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123825"/>
              <a:ext cx="2535936" cy="26597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6812263" y="3352295"/>
            <a:ext cx="610619" cy="610619"/>
            <a:chOff x="0" y="0"/>
            <a:chExt cx="814159" cy="814159"/>
          </a:xfrm>
        </p:grpSpPr>
        <p:sp>
          <p:nvSpPr>
            <p:cNvPr id="161" name="Freeform 161"/>
            <p:cNvSpPr/>
            <p:nvPr/>
          </p:nvSpPr>
          <p:spPr>
            <a:xfrm>
              <a:off x="16891" y="16891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390144"/>
                  </a:moveTo>
                  <a:cubicBezTo>
                    <a:pt x="0" y="174625"/>
                    <a:pt x="174625" y="0"/>
                    <a:pt x="390144" y="0"/>
                  </a:cubicBezTo>
                  <a:cubicBezTo>
                    <a:pt x="605663" y="0"/>
                    <a:pt x="780288" y="174752"/>
                    <a:pt x="780288" y="390144"/>
                  </a:cubicBezTo>
                  <a:cubicBezTo>
                    <a:pt x="780288" y="605536"/>
                    <a:pt x="605663" y="780288"/>
                    <a:pt x="390144" y="780288"/>
                  </a:cubicBezTo>
                  <a:cubicBezTo>
                    <a:pt x="174625" y="780288"/>
                    <a:pt x="0" y="605663"/>
                    <a:pt x="0" y="390144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62" name="Freeform 162"/>
            <p:cNvSpPr/>
            <p:nvPr/>
          </p:nvSpPr>
          <p:spPr>
            <a:xfrm>
              <a:off x="0" y="0"/>
              <a:ext cx="814070" cy="814070"/>
            </a:xfrm>
            <a:custGeom>
              <a:avLst/>
              <a:gdLst/>
              <a:ahLst/>
              <a:cxnLst/>
              <a:rect l="l" t="t" r="r" b="b"/>
              <a:pathLst>
                <a:path w="814070" h="814070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lnTo>
                    <a:pt x="407035" y="16891"/>
                  </a:lnTo>
                  <a:lnTo>
                    <a:pt x="407035" y="0"/>
                  </a:lnTo>
                  <a:cubicBezTo>
                    <a:pt x="631825" y="0"/>
                    <a:pt x="814070" y="182245"/>
                    <a:pt x="814070" y="407035"/>
                  </a:cubicBezTo>
                  <a:cubicBezTo>
                    <a:pt x="814070" y="631825"/>
                    <a:pt x="631825" y="814070"/>
                    <a:pt x="407035" y="814070"/>
                  </a:cubicBezTo>
                  <a:lnTo>
                    <a:pt x="407035" y="797179"/>
                  </a:lnTo>
                  <a:lnTo>
                    <a:pt x="407035" y="814070"/>
                  </a:lnTo>
                  <a:cubicBezTo>
                    <a:pt x="182245" y="814197"/>
                    <a:pt x="0" y="631952"/>
                    <a:pt x="0" y="407035"/>
                  </a:cubicBezTo>
                  <a:lnTo>
                    <a:pt x="16891" y="407035"/>
                  </a:lnTo>
                  <a:lnTo>
                    <a:pt x="31242" y="416052"/>
                  </a:lnTo>
                  <a:cubicBezTo>
                    <a:pt x="27178" y="422402"/>
                    <a:pt x="19431" y="425450"/>
                    <a:pt x="12192" y="423291"/>
                  </a:cubicBezTo>
                  <a:cubicBezTo>
                    <a:pt x="4953" y="421132"/>
                    <a:pt x="0" y="414655"/>
                    <a:pt x="0" y="407035"/>
                  </a:cubicBezTo>
                  <a:moveTo>
                    <a:pt x="33909" y="407035"/>
                  </a:moveTo>
                  <a:lnTo>
                    <a:pt x="16891" y="407035"/>
                  </a:lnTo>
                  <a:lnTo>
                    <a:pt x="2540" y="398145"/>
                  </a:lnTo>
                  <a:cubicBezTo>
                    <a:pt x="6604" y="391795"/>
                    <a:pt x="14351" y="388747"/>
                    <a:pt x="21590" y="390906"/>
                  </a:cubicBezTo>
                  <a:cubicBezTo>
                    <a:pt x="28829" y="393065"/>
                    <a:pt x="33909" y="399669"/>
                    <a:pt x="33909" y="407162"/>
                  </a:cubicBezTo>
                  <a:cubicBezTo>
                    <a:pt x="33909" y="613283"/>
                    <a:pt x="201041" y="780415"/>
                    <a:pt x="407162" y="780415"/>
                  </a:cubicBezTo>
                  <a:cubicBezTo>
                    <a:pt x="613283" y="780415"/>
                    <a:pt x="780288" y="613156"/>
                    <a:pt x="780288" y="407035"/>
                  </a:cubicBezTo>
                  <a:lnTo>
                    <a:pt x="797179" y="407035"/>
                  </a:lnTo>
                  <a:lnTo>
                    <a:pt x="780288" y="407035"/>
                  </a:lnTo>
                  <a:cubicBezTo>
                    <a:pt x="780288" y="200914"/>
                    <a:pt x="613156" y="33782"/>
                    <a:pt x="407035" y="33782"/>
                  </a:cubicBezTo>
                  <a:lnTo>
                    <a:pt x="407035" y="16891"/>
                  </a:lnTo>
                  <a:lnTo>
                    <a:pt x="407035" y="33909"/>
                  </a:lnTo>
                  <a:cubicBezTo>
                    <a:pt x="200914" y="33909"/>
                    <a:pt x="33909" y="200914"/>
                    <a:pt x="33909" y="407035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63" name="Group 163"/>
          <p:cNvGrpSpPr/>
          <p:nvPr/>
        </p:nvGrpSpPr>
        <p:grpSpPr>
          <a:xfrm>
            <a:off x="16824960" y="3364992"/>
            <a:ext cx="585216" cy="585216"/>
            <a:chOff x="0" y="0"/>
            <a:chExt cx="780288" cy="780288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780288" cy="780288"/>
            </a:xfrm>
            <a:custGeom>
              <a:avLst/>
              <a:gdLst/>
              <a:ahLst/>
              <a:cxnLst/>
              <a:rect l="l" t="t" r="r" b="b"/>
              <a:pathLst>
                <a:path w="780288" h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14447520" y="5669280"/>
            <a:ext cx="2926080" cy="877824"/>
            <a:chOff x="0" y="0"/>
            <a:chExt cx="3901440" cy="1170432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3901440" cy="1170432"/>
            </a:xfrm>
            <a:custGeom>
              <a:avLst/>
              <a:gdLst/>
              <a:ahLst/>
              <a:cxnLst/>
              <a:rect l="l" t="t" r="r" b="b"/>
              <a:pathLst>
                <a:path w="3901440" h="1170432">
                  <a:moveTo>
                    <a:pt x="0" y="0"/>
                  </a:moveTo>
                  <a:lnTo>
                    <a:pt x="3901440" y="0"/>
                  </a:lnTo>
                  <a:lnTo>
                    <a:pt x="3901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50" b="-14950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-57150"/>
              <a:ext cx="3901440" cy="12275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Mayar Mohamed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14800583" y="6662423"/>
            <a:ext cx="2219963" cy="71123"/>
            <a:chOff x="0" y="0"/>
            <a:chExt cx="2959951" cy="94831"/>
          </a:xfrm>
        </p:grpSpPr>
        <p:sp>
          <p:nvSpPr>
            <p:cNvPr id="170" name="Freeform 170"/>
            <p:cNvSpPr/>
            <p:nvPr/>
          </p:nvSpPr>
          <p:spPr>
            <a:xfrm>
              <a:off x="16891" y="16891"/>
              <a:ext cx="2926080" cy="60960"/>
            </a:xfrm>
            <a:custGeom>
              <a:avLst/>
              <a:gdLst/>
              <a:ahLst/>
              <a:cxnLst/>
              <a:rect l="l" t="t" r="r" b="b"/>
              <a:pathLst>
                <a:path w="2926080" h="60960">
                  <a:moveTo>
                    <a:pt x="0" y="0"/>
                  </a:moveTo>
                  <a:lnTo>
                    <a:pt x="2926080" y="0"/>
                  </a:lnTo>
                  <a:lnTo>
                    <a:pt x="292608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71" name="Freeform 171"/>
            <p:cNvSpPr/>
            <p:nvPr/>
          </p:nvSpPr>
          <p:spPr>
            <a:xfrm>
              <a:off x="0" y="0"/>
              <a:ext cx="2959862" cy="94744"/>
            </a:xfrm>
            <a:custGeom>
              <a:avLst/>
              <a:gdLst/>
              <a:ahLst/>
              <a:cxnLst/>
              <a:rect l="l" t="t" r="r" b="b"/>
              <a:pathLst>
                <a:path w="2959862" h="94744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77851"/>
                  </a:lnTo>
                  <a:cubicBezTo>
                    <a:pt x="2959862" y="87249"/>
                    <a:pt x="2952242" y="94742"/>
                    <a:pt x="294297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2942971" y="60960"/>
                  </a:lnTo>
                  <a:lnTo>
                    <a:pt x="2942971" y="77851"/>
                  </a:lnTo>
                  <a:lnTo>
                    <a:pt x="2926080" y="7785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72" name="Group 172"/>
          <p:cNvGrpSpPr/>
          <p:nvPr/>
        </p:nvGrpSpPr>
        <p:grpSpPr>
          <a:xfrm>
            <a:off x="14630962" y="6977739"/>
            <a:ext cx="2475995" cy="793499"/>
            <a:chOff x="0" y="0"/>
            <a:chExt cx="3301327" cy="1057999"/>
          </a:xfrm>
        </p:grpSpPr>
        <p:sp>
          <p:nvSpPr>
            <p:cNvPr id="173" name="Freeform 173"/>
            <p:cNvSpPr/>
            <p:nvPr/>
          </p:nvSpPr>
          <p:spPr>
            <a:xfrm>
              <a:off x="16891" y="16891"/>
              <a:ext cx="3267456" cy="1024128"/>
            </a:xfrm>
            <a:custGeom>
              <a:avLst/>
              <a:gdLst/>
              <a:ahLst/>
              <a:cxnLst/>
              <a:rect l="l" t="t" r="r" b="b"/>
              <a:pathLst>
                <a:path w="3267456" h="1024128">
                  <a:moveTo>
                    <a:pt x="0" y="0"/>
                  </a:moveTo>
                  <a:lnTo>
                    <a:pt x="3267456" y="0"/>
                  </a:lnTo>
                  <a:lnTo>
                    <a:pt x="3267456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id="174" name="Freeform 174"/>
            <p:cNvSpPr/>
            <p:nvPr/>
          </p:nvSpPr>
          <p:spPr>
            <a:xfrm>
              <a:off x="0" y="0"/>
              <a:ext cx="3301238" cy="1057912"/>
            </a:xfrm>
            <a:custGeom>
              <a:avLst/>
              <a:gdLst/>
              <a:ahLst/>
              <a:cxnLst/>
              <a:rect l="l" t="t" r="r" b="b"/>
              <a:pathLst>
                <a:path w="3301238" h="1057912">
                  <a:moveTo>
                    <a:pt x="16891" y="0"/>
                  </a:moveTo>
                  <a:lnTo>
                    <a:pt x="3284347" y="0"/>
                  </a:lnTo>
                  <a:cubicBezTo>
                    <a:pt x="3293745" y="0"/>
                    <a:pt x="3301238" y="7620"/>
                    <a:pt x="3301238" y="16891"/>
                  </a:cubicBezTo>
                  <a:lnTo>
                    <a:pt x="3301238" y="1041019"/>
                  </a:lnTo>
                  <a:cubicBezTo>
                    <a:pt x="3301238" y="1050417"/>
                    <a:pt x="3293618" y="1057910"/>
                    <a:pt x="3284347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3284347" y="1024128"/>
                  </a:lnTo>
                  <a:lnTo>
                    <a:pt x="3284347" y="1041019"/>
                  </a:lnTo>
                  <a:lnTo>
                    <a:pt x="3267456" y="1041019"/>
                  </a:lnTo>
                  <a:lnTo>
                    <a:pt x="3267456" y="16891"/>
                  </a:lnTo>
                  <a:lnTo>
                    <a:pt x="3284347" y="16891"/>
                  </a:lnTo>
                  <a:lnTo>
                    <a:pt x="328434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75" name="Group 175"/>
          <p:cNvGrpSpPr/>
          <p:nvPr/>
        </p:nvGrpSpPr>
        <p:grpSpPr>
          <a:xfrm>
            <a:off x="14685264" y="6409944"/>
            <a:ext cx="2450592" cy="2075688"/>
            <a:chOff x="0" y="0"/>
            <a:chExt cx="3267456" cy="2767584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3267456" cy="2767584"/>
            </a:xfrm>
            <a:custGeom>
              <a:avLst/>
              <a:gdLst/>
              <a:ahLst/>
              <a:cxnLst/>
              <a:rect l="l" t="t" r="r" b="b"/>
              <a:pathLst>
                <a:path w="3267456" h="2767584">
                  <a:moveTo>
                    <a:pt x="0" y="0"/>
                  </a:moveTo>
                  <a:lnTo>
                    <a:pt x="3267456" y="0"/>
                  </a:lnTo>
                  <a:lnTo>
                    <a:pt x="3267456" y="2767584"/>
                  </a:lnTo>
                  <a:lnTo>
                    <a:pt x="0" y="2767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675" r="-58675"/>
              </a:stretch>
            </a:blipFill>
          </p:spPr>
        </p:sp>
        <p:sp>
          <p:nvSpPr>
            <p:cNvPr id="177" name="TextBox 177"/>
            <p:cNvSpPr txBox="1"/>
            <p:nvPr/>
          </p:nvSpPr>
          <p:spPr>
            <a:xfrm>
              <a:off x="0" y="-38100"/>
              <a:ext cx="3267456" cy="2805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2E549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DEPI Graduate</a:t>
              </a:r>
            </a:p>
          </p:txBody>
        </p:sp>
      </p:grpSp>
      <p:grpSp>
        <p:nvGrpSpPr>
          <p:cNvPr id="178" name="Group 178"/>
          <p:cNvGrpSpPr/>
          <p:nvPr/>
        </p:nvGrpSpPr>
        <p:grpSpPr>
          <a:xfrm>
            <a:off x="15678407" y="8802119"/>
            <a:ext cx="464315" cy="464315"/>
            <a:chOff x="0" y="0"/>
            <a:chExt cx="619087" cy="619087"/>
          </a:xfrm>
        </p:grpSpPr>
        <p:sp>
          <p:nvSpPr>
            <p:cNvPr id="179" name="Freeform 179"/>
            <p:cNvSpPr/>
            <p:nvPr/>
          </p:nvSpPr>
          <p:spPr>
            <a:xfrm>
              <a:off x="16891" y="16891"/>
              <a:ext cx="585216" cy="585216"/>
            </a:xfrm>
            <a:custGeom>
              <a:avLst/>
              <a:gdLst/>
              <a:ahLst/>
              <a:cxnLst/>
              <a:rect l="l" t="t" r="r" b="b"/>
              <a:pathLst>
                <a:path w="585216" h="585216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cubicBezTo>
                    <a:pt x="454152" y="0"/>
                    <a:pt x="585216" y="131064"/>
                    <a:pt x="585216" y="292608"/>
                  </a:cubicBezTo>
                  <a:cubicBezTo>
                    <a:pt x="585216" y="454152"/>
                    <a:pt x="454279" y="585216"/>
                    <a:pt x="292608" y="585216"/>
                  </a:cubicBezTo>
                  <a:cubicBezTo>
                    <a:pt x="130937" y="585216"/>
                    <a:pt x="0" y="454279"/>
                    <a:pt x="0" y="292608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80" name="Freeform 180"/>
            <p:cNvSpPr/>
            <p:nvPr/>
          </p:nvSpPr>
          <p:spPr>
            <a:xfrm>
              <a:off x="0" y="0"/>
              <a:ext cx="619125" cy="618998"/>
            </a:xfrm>
            <a:custGeom>
              <a:avLst/>
              <a:gdLst/>
              <a:ahLst/>
              <a:cxnLst/>
              <a:rect l="l" t="t" r="r" b="b"/>
              <a:pathLst>
                <a:path w="619125" h="618998">
                  <a:moveTo>
                    <a:pt x="0" y="309499"/>
                  </a:moveTo>
                  <a:cubicBezTo>
                    <a:pt x="0" y="138557"/>
                    <a:pt x="138557" y="0"/>
                    <a:pt x="309499" y="0"/>
                  </a:cubicBezTo>
                  <a:lnTo>
                    <a:pt x="309499" y="16891"/>
                  </a:lnTo>
                  <a:lnTo>
                    <a:pt x="309499" y="0"/>
                  </a:lnTo>
                  <a:cubicBezTo>
                    <a:pt x="480441" y="0"/>
                    <a:pt x="619125" y="138557"/>
                    <a:pt x="619125" y="309499"/>
                  </a:cubicBezTo>
                  <a:lnTo>
                    <a:pt x="602107" y="309499"/>
                  </a:lnTo>
                  <a:lnTo>
                    <a:pt x="618998" y="309499"/>
                  </a:lnTo>
                  <a:cubicBezTo>
                    <a:pt x="618998" y="480441"/>
                    <a:pt x="480441" y="618998"/>
                    <a:pt x="309499" y="618998"/>
                  </a:cubicBezTo>
                  <a:lnTo>
                    <a:pt x="309499" y="602107"/>
                  </a:lnTo>
                  <a:lnTo>
                    <a:pt x="309499" y="618998"/>
                  </a:lnTo>
                  <a:cubicBezTo>
                    <a:pt x="138557" y="619125"/>
                    <a:pt x="0" y="480441"/>
                    <a:pt x="0" y="309499"/>
                  </a:cubicBezTo>
                  <a:lnTo>
                    <a:pt x="16891" y="309499"/>
                  </a:lnTo>
                  <a:lnTo>
                    <a:pt x="33909" y="309499"/>
                  </a:lnTo>
                  <a:lnTo>
                    <a:pt x="16891" y="309499"/>
                  </a:lnTo>
                  <a:lnTo>
                    <a:pt x="0" y="309499"/>
                  </a:lnTo>
                  <a:moveTo>
                    <a:pt x="33909" y="309499"/>
                  </a:moveTo>
                  <a:cubicBezTo>
                    <a:pt x="33909" y="318897"/>
                    <a:pt x="26289" y="326390"/>
                    <a:pt x="17018" y="326390"/>
                  </a:cubicBezTo>
                  <a:cubicBezTo>
                    <a:pt x="7747" y="326390"/>
                    <a:pt x="0" y="318897"/>
                    <a:pt x="0" y="309499"/>
                  </a:cubicBezTo>
                  <a:cubicBezTo>
                    <a:pt x="0" y="300101"/>
                    <a:pt x="7620" y="292608"/>
                    <a:pt x="16891" y="292608"/>
                  </a:cubicBezTo>
                  <a:cubicBezTo>
                    <a:pt x="26162" y="292608"/>
                    <a:pt x="33782" y="300228"/>
                    <a:pt x="33782" y="309499"/>
                  </a:cubicBezTo>
                  <a:cubicBezTo>
                    <a:pt x="33782" y="461772"/>
                    <a:pt x="157226" y="585216"/>
                    <a:pt x="309499" y="585216"/>
                  </a:cubicBezTo>
                  <a:cubicBezTo>
                    <a:pt x="461772" y="585216"/>
                    <a:pt x="585216" y="461772"/>
                    <a:pt x="585216" y="309499"/>
                  </a:cubicBezTo>
                  <a:cubicBezTo>
                    <a:pt x="585216" y="157226"/>
                    <a:pt x="461772" y="33782"/>
                    <a:pt x="309499" y="33782"/>
                  </a:cubicBezTo>
                  <a:lnTo>
                    <a:pt x="309499" y="16891"/>
                  </a:lnTo>
                  <a:lnTo>
                    <a:pt x="309499" y="33909"/>
                  </a:lnTo>
                  <a:cubicBezTo>
                    <a:pt x="157226" y="33909"/>
                    <a:pt x="33782" y="157353"/>
                    <a:pt x="33782" y="309626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945643"/>
            <a:chOff x="0" y="0"/>
            <a:chExt cx="24417871" cy="259419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560320"/>
            </a:xfrm>
            <a:custGeom>
              <a:avLst/>
              <a:gdLst/>
              <a:ahLst/>
              <a:cxnLst/>
              <a:rect l="l" t="t" r="r" b="b"/>
              <a:pathLst>
                <a:path w="24383999" h="2560320">
                  <a:moveTo>
                    <a:pt x="0" y="0"/>
                  </a:moveTo>
                  <a:lnTo>
                    <a:pt x="24383999" y="0"/>
                  </a:lnTo>
                  <a:lnTo>
                    <a:pt x="24383999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594102"/>
            </a:xfrm>
            <a:custGeom>
              <a:avLst/>
              <a:gdLst/>
              <a:ahLst/>
              <a:cxnLst/>
              <a:rect l="l" t="t" r="r" b="b"/>
              <a:pathLst>
                <a:path w="24417782" h="259410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577211"/>
                  </a:lnTo>
                  <a:cubicBezTo>
                    <a:pt x="24417782" y="2586609"/>
                    <a:pt x="24410163" y="2594102"/>
                    <a:pt x="24400890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4400890" y="2560320"/>
                  </a:lnTo>
                  <a:lnTo>
                    <a:pt x="24400890" y="2577211"/>
                  </a:lnTo>
                  <a:lnTo>
                    <a:pt x="24384000" y="257721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F5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-12697"/>
            <a:ext cx="171707" cy="1945643"/>
            <a:chOff x="0" y="0"/>
            <a:chExt cx="228943" cy="25941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95072" cy="2560320"/>
            </a:xfrm>
            <a:custGeom>
              <a:avLst/>
              <a:gdLst/>
              <a:ahLst/>
              <a:cxnLst/>
              <a:rect l="l" t="t" r="r" b="b"/>
              <a:pathLst>
                <a:path w="195072" h="2560320">
                  <a:moveTo>
                    <a:pt x="0" y="0"/>
                  </a:moveTo>
                  <a:lnTo>
                    <a:pt x="195072" y="0"/>
                  </a:lnTo>
                  <a:lnTo>
                    <a:pt x="195072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8854" cy="2594102"/>
            </a:xfrm>
            <a:custGeom>
              <a:avLst/>
              <a:gdLst/>
              <a:ahLst/>
              <a:cxnLst/>
              <a:rect l="l" t="t" r="r" b="b"/>
              <a:pathLst>
                <a:path w="228854" h="259410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577211"/>
                  </a:lnTo>
                  <a:cubicBezTo>
                    <a:pt x="228854" y="2586609"/>
                    <a:pt x="221234" y="2594102"/>
                    <a:pt x="211963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11963" y="2560320"/>
                  </a:lnTo>
                  <a:lnTo>
                    <a:pt x="211963" y="2577211"/>
                  </a:lnTo>
                  <a:lnTo>
                    <a:pt x="195072" y="257721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8640" y="0"/>
            <a:ext cx="17373600" cy="1920240"/>
            <a:chOff x="0" y="0"/>
            <a:chExt cx="23164800" cy="25603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164800" cy="2560320"/>
            </a:xfrm>
            <a:custGeom>
              <a:avLst/>
              <a:gdLst/>
              <a:ahLst/>
              <a:cxnLst/>
              <a:rect l="l" t="t" r="r" b="b"/>
              <a:pathLst>
                <a:path w="23164800" h="2560320">
                  <a:moveTo>
                    <a:pt x="0" y="0"/>
                  </a:moveTo>
                  <a:lnTo>
                    <a:pt x="23164800" y="0"/>
                  </a:lnTo>
                  <a:lnTo>
                    <a:pt x="23164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23164800" cy="26650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Objectives &amp; Tools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9541" y="2145287"/>
            <a:ext cx="8529323" cy="2256539"/>
            <a:chOff x="0" y="0"/>
            <a:chExt cx="11372431" cy="300871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389639" y="2145287"/>
            <a:ext cx="135131" cy="2256539"/>
            <a:chOff x="0" y="0"/>
            <a:chExt cx="180175" cy="300871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18823" y="2456183"/>
            <a:ext cx="866651" cy="866651"/>
            <a:chOff x="0" y="0"/>
            <a:chExt cx="1155535" cy="1155535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896112" y="2596896"/>
            <a:ext cx="512064" cy="512064"/>
            <a:chOff x="0" y="0"/>
            <a:chExt cx="682752" cy="682752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828800" y="2304288"/>
            <a:ext cx="6858000" cy="640080"/>
            <a:chOff x="0" y="0"/>
            <a:chExt cx="9144000" cy="8534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 Passenger Behavior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828800" y="2980944"/>
            <a:ext cx="6858000" cy="1243584"/>
            <a:chOff x="0" y="0"/>
            <a:chExt cx="9144000" cy="16581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Understand travel patterns, peak hours, and segment preferences for capacity planning.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9639" y="4669031"/>
            <a:ext cx="8529323" cy="2256539"/>
            <a:chOff x="0" y="0"/>
            <a:chExt cx="11372431" cy="3008719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89639" y="4669031"/>
            <a:ext cx="135131" cy="2256539"/>
            <a:chOff x="0" y="0"/>
            <a:chExt cx="180175" cy="3008719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18823" y="4979927"/>
            <a:ext cx="866651" cy="866651"/>
            <a:chOff x="0" y="0"/>
            <a:chExt cx="1155535" cy="1155535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896112" y="5120640"/>
            <a:ext cx="512064" cy="512064"/>
            <a:chOff x="0" y="0"/>
            <a:chExt cx="682752" cy="682752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9" name="Group 39"/>
          <p:cNvGrpSpPr/>
          <p:nvPr/>
        </p:nvGrpSpPr>
        <p:grpSpPr>
          <a:xfrm>
            <a:off x="1828800" y="4828032"/>
            <a:ext cx="6858000" cy="640080"/>
            <a:chOff x="0" y="0"/>
            <a:chExt cx="9144000" cy="8534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Delay Patterns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828800" y="5504688"/>
            <a:ext cx="6858000" cy="1243584"/>
            <a:chOff x="0" y="0"/>
            <a:chExt cx="9144000" cy="165811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root causes of delays and cancellations across routes and time segments.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89639" y="7192775"/>
            <a:ext cx="8529323" cy="2256539"/>
            <a:chOff x="0" y="0"/>
            <a:chExt cx="11372431" cy="3008719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389639" y="7192775"/>
            <a:ext cx="135131" cy="2256539"/>
            <a:chOff x="0" y="0"/>
            <a:chExt cx="180175" cy="3008719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718823" y="7503671"/>
            <a:ext cx="866651" cy="866651"/>
            <a:chOff x="0" y="0"/>
            <a:chExt cx="1155535" cy="1155535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896112" y="7644384"/>
            <a:ext cx="512064" cy="512064"/>
            <a:chOff x="0" y="0"/>
            <a:chExt cx="682752" cy="682752"/>
          </a:xfrm>
        </p:grpSpPr>
        <p:sp>
          <p:nvSpPr>
            <p:cNvPr id="55" name="Freeform 55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56" name="Group 56"/>
          <p:cNvGrpSpPr/>
          <p:nvPr/>
        </p:nvGrpSpPr>
        <p:grpSpPr>
          <a:xfrm>
            <a:off x="1828800" y="7351776"/>
            <a:ext cx="6858000" cy="640080"/>
            <a:chOff x="0" y="0"/>
            <a:chExt cx="9144000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 Train Scheduling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828800" y="8028432"/>
            <a:ext cx="6858000" cy="1243584"/>
            <a:chOff x="0" y="0"/>
            <a:chExt cx="9144000" cy="1658112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Recommend optimized schedules that reduce delays and balance passenger load.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50759" y="2145287"/>
            <a:ext cx="8529323" cy="2256539"/>
            <a:chOff x="0" y="0"/>
            <a:chExt cx="11372431" cy="3008719"/>
          </a:xfrm>
        </p:grpSpPr>
        <p:sp>
          <p:nvSpPr>
            <p:cNvPr id="63" name="Freeform 63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9350759" y="2145287"/>
            <a:ext cx="135131" cy="2256539"/>
            <a:chOff x="0" y="0"/>
            <a:chExt cx="180175" cy="3008719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9679943" y="2456183"/>
            <a:ext cx="866651" cy="866651"/>
            <a:chOff x="0" y="0"/>
            <a:chExt cx="1155535" cy="1155535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857232" y="2596896"/>
            <a:ext cx="512064" cy="512064"/>
            <a:chOff x="0" y="0"/>
            <a:chExt cx="682752" cy="682752"/>
          </a:xfrm>
        </p:grpSpPr>
        <p:sp>
          <p:nvSpPr>
            <p:cNvPr id="72" name="Freeform 72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10789920" y="2304288"/>
            <a:ext cx="6858000" cy="640080"/>
            <a:chOff x="0" y="0"/>
            <a:chExt cx="9144000" cy="8534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Optimization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0789920" y="2980944"/>
            <a:ext cx="6858000" cy="1243584"/>
            <a:chOff x="0" y="0"/>
            <a:chExt cx="9144000" cy="165811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Analyze ticket classes and purchase timing to maximize revenue streams.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350759" y="4669031"/>
            <a:ext cx="8529323" cy="2256539"/>
            <a:chOff x="0" y="0"/>
            <a:chExt cx="11372431" cy="3008719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9350759" y="4669031"/>
            <a:ext cx="135131" cy="2256539"/>
            <a:chOff x="0" y="0"/>
            <a:chExt cx="180175" cy="3008719"/>
          </a:xfrm>
        </p:grpSpPr>
        <p:sp>
          <p:nvSpPr>
            <p:cNvPr id="83" name="Freeform 83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84" name="Freeform 84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85" name="Group 85"/>
          <p:cNvGrpSpPr/>
          <p:nvPr/>
        </p:nvGrpSpPr>
        <p:grpSpPr>
          <a:xfrm>
            <a:off x="9679943" y="4979927"/>
            <a:ext cx="866651" cy="866651"/>
            <a:chOff x="0" y="0"/>
            <a:chExt cx="1155535" cy="1155535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88" name="Group 88"/>
          <p:cNvGrpSpPr/>
          <p:nvPr/>
        </p:nvGrpSpPr>
        <p:grpSpPr>
          <a:xfrm>
            <a:off x="9857232" y="5120640"/>
            <a:ext cx="512064" cy="512064"/>
            <a:chOff x="0" y="0"/>
            <a:chExt cx="682752" cy="682752"/>
          </a:xfrm>
        </p:grpSpPr>
        <p:sp>
          <p:nvSpPr>
            <p:cNvPr id="89" name="Freeform 89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90" name="Group 90"/>
          <p:cNvGrpSpPr/>
          <p:nvPr/>
        </p:nvGrpSpPr>
        <p:grpSpPr>
          <a:xfrm>
            <a:off x="10789920" y="4828032"/>
            <a:ext cx="6858000" cy="640080"/>
            <a:chOff x="0" y="0"/>
            <a:chExt cx="9144000" cy="85344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 Dashboards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0789920" y="5504688"/>
            <a:ext cx="6858000" cy="1243584"/>
            <a:chOff x="0" y="0"/>
            <a:chExt cx="9144000" cy="165811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Build interactive Power BI dashboards with KPIs, trends, and actionable analytics.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350759" y="7192775"/>
            <a:ext cx="8529323" cy="2256539"/>
            <a:chOff x="0" y="0"/>
            <a:chExt cx="11372431" cy="3008719"/>
          </a:xfrm>
        </p:grpSpPr>
        <p:sp>
          <p:nvSpPr>
            <p:cNvPr id="97" name="Freeform 97"/>
            <p:cNvSpPr/>
            <p:nvPr/>
          </p:nvSpPr>
          <p:spPr>
            <a:xfrm>
              <a:off x="16891" y="16891"/>
              <a:ext cx="11338560" cy="2974848"/>
            </a:xfrm>
            <a:custGeom>
              <a:avLst/>
              <a:gdLst/>
              <a:ahLst/>
              <a:cxnLst/>
              <a:rect l="l" t="t" r="r" b="b"/>
              <a:pathLst>
                <a:path w="11338560" h="2974848">
                  <a:moveTo>
                    <a:pt x="0" y="0"/>
                  </a:moveTo>
                  <a:lnTo>
                    <a:pt x="11338560" y="0"/>
                  </a:lnTo>
                  <a:lnTo>
                    <a:pt x="11338560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98" name="Freeform 98"/>
            <p:cNvSpPr/>
            <p:nvPr/>
          </p:nvSpPr>
          <p:spPr>
            <a:xfrm>
              <a:off x="0" y="0"/>
              <a:ext cx="11372342" cy="3008630"/>
            </a:xfrm>
            <a:custGeom>
              <a:avLst/>
              <a:gdLst/>
              <a:ahLst/>
              <a:cxnLst/>
              <a:rect l="l" t="t" r="r" b="b"/>
              <a:pathLst>
                <a:path w="11372342" h="3008630">
                  <a:moveTo>
                    <a:pt x="16891" y="0"/>
                  </a:moveTo>
                  <a:lnTo>
                    <a:pt x="11355451" y="0"/>
                  </a:lnTo>
                  <a:cubicBezTo>
                    <a:pt x="11364849" y="0"/>
                    <a:pt x="11372342" y="7620"/>
                    <a:pt x="11372342" y="16891"/>
                  </a:cubicBezTo>
                  <a:lnTo>
                    <a:pt x="11372342" y="2991739"/>
                  </a:lnTo>
                  <a:cubicBezTo>
                    <a:pt x="11372342" y="3001137"/>
                    <a:pt x="11364722" y="3008630"/>
                    <a:pt x="11355451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1355451" y="2974848"/>
                  </a:lnTo>
                  <a:lnTo>
                    <a:pt x="11355451" y="2991739"/>
                  </a:lnTo>
                  <a:lnTo>
                    <a:pt x="11338560" y="2991739"/>
                  </a:lnTo>
                  <a:lnTo>
                    <a:pt x="11338560" y="16891"/>
                  </a:lnTo>
                  <a:lnTo>
                    <a:pt x="11355451" y="16891"/>
                  </a:lnTo>
                  <a:lnTo>
                    <a:pt x="11355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9350759" y="7192775"/>
            <a:ext cx="135131" cy="2256539"/>
            <a:chOff x="0" y="0"/>
            <a:chExt cx="180175" cy="3008719"/>
          </a:xfrm>
        </p:grpSpPr>
        <p:sp>
          <p:nvSpPr>
            <p:cNvPr id="100" name="Freeform 100"/>
            <p:cNvSpPr/>
            <p:nvPr/>
          </p:nvSpPr>
          <p:spPr>
            <a:xfrm>
              <a:off x="16891" y="16891"/>
              <a:ext cx="146304" cy="2974848"/>
            </a:xfrm>
            <a:custGeom>
              <a:avLst/>
              <a:gdLst/>
              <a:ahLst/>
              <a:cxnLst/>
              <a:rect l="l" t="t" r="r" b="b"/>
              <a:pathLst>
                <a:path w="146304" h="2974848">
                  <a:moveTo>
                    <a:pt x="0" y="0"/>
                  </a:moveTo>
                  <a:lnTo>
                    <a:pt x="146304" y="0"/>
                  </a:lnTo>
                  <a:lnTo>
                    <a:pt x="146304" y="2974848"/>
                  </a:lnTo>
                  <a:lnTo>
                    <a:pt x="0" y="297484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01" name="Freeform 101"/>
            <p:cNvSpPr/>
            <p:nvPr/>
          </p:nvSpPr>
          <p:spPr>
            <a:xfrm>
              <a:off x="0" y="0"/>
              <a:ext cx="180086" cy="3008630"/>
            </a:xfrm>
            <a:custGeom>
              <a:avLst/>
              <a:gdLst/>
              <a:ahLst/>
              <a:cxnLst/>
              <a:rect l="l" t="t" r="r" b="b"/>
              <a:pathLst>
                <a:path w="180086" h="3008630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91739"/>
                  </a:lnTo>
                  <a:cubicBezTo>
                    <a:pt x="180086" y="3001137"/>
                    <a:pt x="172466" y="3008630"/>
                    <a:pt x="163195" y="3008630"/>
                  </a:cubicBezTo>
                  <a:lnTo>
                    <a:pt x="16891" y="3008630"/>
                  </a:lnTo>
                  <a:cubicBezTo>
                    <a:pt x="7493" y="3008630"/>
                    <a:pt x="0" y="3001010"/>
                    <a:pt x="0" y="29917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91739"/>
                  </a:lnTo>
                  <a:lnTo>
                    <a:pt x="16891" y="2991739"/>
                  </a:lnTo>
                  <a:lnTo>
                    <a:pt x="16891" y="2974848"/>
                  </a:lnTo>
                  <a:lnTo>
                    <a:pt x="163195" y="2974848"/>
                  </a:lnTo>
                  <a:lnTo>
                    <a:pt x="163195" y="2991739"/>
                  </a:lnTo>
                  <a:lnTo>
                    <a:pt x="146304" y="2991739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02" name="Group 102"/>
          <p:cNvGrpSpPr/>
          <p:nvPr/>
        </p:nvGrpSpPr>
        <p:grpSpPr>
          <a:xfrm>
            <a:off x="9679943" y="7503671"/>
            <a:ext cx="866651" cy="866651"/>
            <a:chOff x="0" y="0"/>
            <a:chExt cx="1155535" cy="1155535"/>
          </a:xfrm>
        </p:grpSpPr>
        <p:sp>
          <p:nvSpPr>
            <p:cNvPr id="103" name="Freeform 103"/>
            <p:cNvSpPr/>
            <p:nvPr/>
          </p:nvSpPr>
          <p:spPr>
            <a:xfrm>
              <a:off x="16891" y="16891"/>
              <a:ext cx="1121664" cy="1121664"/>
            </a:xfrm>
            <a:custGeom>
              <a:avLst/>
              <a:gdLst/>
              <a:ahLst/>
              <a:cxnLst/>
              <a:rect l="l" t="t" r="r" b="b"/>
              <a:pathLst>
                <a:path w="1121664" h="1121664">
                  <a:moveTo>
                    <a:pt x="0" y="560832"/>
                  </a:moveTo>
                  <a:cubicBezTo>
                    <a:pt x="0" y="251079"/>
                    <a:pt x="251079" y="0"/>
                    <a:pt x="560832" y="0"/>
                  </a:cubicBezTo>
                  <a:cubicBezTo>
                    <a:pt x="870585" y="0"/>
                    <a:pt x="1121664" y="251079"/>
                    <a:pt x="1121664" y="560832"/>
                  </a:cubicBezTo>
                  <a:cubicBezTo>
                    <a:pt x="1121664" y="870585"/>
                    <a:pt x="870585" y="1121664"/>
                    <a:pt x="560832" y="1121664"/>
                  </a:cubicBezTo>
                  <a:cubicBezTo>
                    <a:pt x="251079" y="1121664"/>
                    <a:pt x="0" y="870585"/>
                    <a:pt x="0" y="560832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04" name="Freeform 104"/>
            <p:cNvSpPr/>
            <p:nvPr/>
          </p:nvSpPr>
          <p:spPr>
            <a:xfrm>
              <a:off x="0" y="0"/>
              <a:ext cx="1155573" cy="1155446"/>
            </a:xfrm>
            <a:custGeom>
              <a:avLst/>
              <a:gdLst/>
              <a:ahLst/>
              <a:cxnLst/>
              <a:rect l="l" t="t" r="r" b="b"/>
              <a:pathLst>
                <a:path w="1155573" h="1155446">
                  <a:moveTo>
                    <a:pt x="0" y="577723"/>
                  </a:moveTo>
                  <a:cubicBezTo>
                    <a:pt x="0" y="258699"/>
                    <a:pt x="258699" y="0"/>
                    <a:pt x="577723" y="0"/>
                  </a:cubicBezTo>
                  <a:lnTo>
                    <a:pt x="577723" y="16891"/>
                  </a:lnTo>
                  <a:lnTo>
                    <a:pt x="577723" y="0"/>
                  </a:lnTo>
                  <a:cubicBezTo>
                    <a:pt x="896874" y="0"/>
                    <a:pt x="1155573" y="258699"/>
                    <a:pt x="1155573" y="577723"/>
                  </a:cubicBezTo>
                  <a:lnTo>
                    <a:pt x="1138555" y="577723"/>
                  </a:lnTo>
                  <a:lnTo>
                    <a:pt x="1155446" y="577723"/>
                  </a:lnTo>
                  <a:cubicBezTo>
                    <a:pt x="1155446" y="896874"/>
                    <a:pt x="896747" y="1155446"/>
                    <a:pt x="577723" y="1155446"/>
                  </a:cubicBezTo>
                  <a:lnTo>
                    <a:pt x="577723" y="1138555"/>
                  </a:lnTo>
                  <a:lnTo>
                    <a:pt x="577723" y="1155446"/>
                  </a:lnTo>
                  <a:cubicBezTo>
                    <a:pt x="258699" y="1155573"/>
                    <a:pt x="0" y="896874"/>
                    <a:pt x="0" y="577723"/>
                  </a:cubicBezTo>
                  <a:lnTo>
                    <a:pt x="16891" y="577723"/>
                  </a:lnTo>
                  <a:lnTo>
                    <a:pt x="33909" y="577723"/>
                  </a:lnTo>
                  <a:lnTo>
                    <a:pt x="16891" y="577723"/>
                  </a:lnTo>
                  <a:lnTo>
                    <a:pt x="0" y="577723"/>
                  </a:lnTo>
                  <a:moveTo>
                    <a:pt x="33909" y="577723"/>
                  </a:moveTo>
                  <a:cubicBezTo>
                    <a:pt x="33909" y="587121"/>
                    <a:pt x="26289" y="594614"/>
                    <a:pt x="17018" y="594614"/>
                  </a:cubicBezTo>
                  <a:cubicBezTo>
                    <a:pt x="7747" y="594614"/>
                    <a:pt x="0" y="587121"/>
                    <a:pt x="0" y="577723"/>
                  </a:cubicBezTo>
                  <a:cubicBezTo>
                    <a:pt x="0" y="568325"/>
                    <a:pt x="7620" y="560832"/>
                    <a:pt x="16891" y="560832"/>
                  </a:cubicBezTo>
                  <a:cubicBezTo>
                    <a:pt x="26162" y="560832"/>
                    <a:pt x="33782" y="568452"/>
                    <a:pt x="33782" y="577723"/>
                  </a:cubicBezTo>
                  <a:cubicBezTo>
                    <a:pt x="33782" y="878078"/>
                    <a:pt x="277241" y="1121664"/>
                    <a:pt x="577723" y="1121664"/>
                  </a:cubicBezTo>
                  <a:cubicBezTo>
                    <a:pt x="878078" y="1121664"/>
                    <a:pt x="1121664" y="878205"/>
                    <a:pt x="1121664" y="577723"/>
                  </a:cubicBezTo>
                  <a:cubicBezTo>
                    <a:pt x="1121664" y="277368"/>
                    <a:pt x="878205" y="33782"/>
                    <a:pt x="577723" y="33782"/>
                  </a:cubicBezTo>
                  <a:lnTo>
                    <a:pt x="577723" y="16891"/>
                  </a:lnTo>
                  <a:lnTo>
                    <a:pt x="577723" y="33909"/>
                  </a:lnTo>
                  <a:cubicBezTo>
                    <a:pt x="277368" y="33909"/>
                    <a:pt x="33909" y="277368"/>
                    <a:pt x="33909" y="577723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9857232" y="7644384"/>
            <a:ext cx="512064" cy="512064"/>
            <a:chOff x="0" y="0"/>
            <a:chExt cx="682752" cy="682752"/>
          </a:xfrm>
        </p:grpSpPr>
        <p:sp>
          <p:nvSpPr>
            <p:cNvPr id="106" name="Freeform 106" descr="preencoded.png"/>
            <p:cNvSpPr/>
            <p:nvPr/>
          </p:nvSpPr>
          <p:spPr>
            <a:xfrm>
              <a:off x="0" y="0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0"/>
                  </a:moveTo>
                  <a:lnTo>
                    <a:pt x="682752" y="0"/>
                  </a:lnTo>
                  <a:lnTo>
                    <a:pt x="68275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07" name="Group 107"/>
          <p:cNvGrpSpPr/>
          <p:nvPr/>
        </p:nvGrpSpPr>
        <p:grpSpPr>
          <a:xfrm>
            <a:off x="10789920" y="7351776"/>
            <a:ext cx="6858000" cy="640080"/>
            <a:chOff x="0" y="0"/>
            <a:chExt cx="9144000" cy="85344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38100"/>
              <a:ext cx="91440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Forecasting &amp; Prediction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789920" y="8028432"/>
            <a:ext cx="6858000" cy="1243584"/>
            <a:chOff x="0" y="0"/>
            <a:chExt cx="9144000" cy="1658112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9144000" cy="1658112"/>
            </a:xfrm>
            <a:custGeom>
              <a:avLst/>
              <a:gdLst/>
              <a:ahLst/>
              <a:cxnLst/>
              <a:rect l="l" t="t" r="r" b="b"/>
              <a:pathLst>
                <a:path w="9144000" h="1658112">
                  <a:moveTo>
                    <a:pt x="0" y="0"/>
                  </a:moveTo>
                  <a:lnTo>
                    <a:pt x="9144000" y="0"/>
                  </a:lnTo>
                  <a:lnTo>
                    <a:pt x="91440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454" b="-57454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9144000" cy="1696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 future rides and revenue using machine learning trend analysis.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-12697" y="9277607"/>
            <a:ext cx="18313403" cy="1022099"/>
            <a:chOff x="0" y="0"/>
            <a:chExt cx="24417871" cy="1362799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24383999" cy="1328928"/>
            </a:xfrm>
            <a:custGeom>
              <a:avLst/>
              <a:gdLst/>
              <a:ahLst/>
              <a:cxnLst/>
              <a:rect l="l" t="t" r="r" b="b"/>
              <a:pathLst>
                <a:path w="24383999" h="1328928">
                  <a:moveTo>
                    <a:pt x="0" y="0"/>
                  </a:moveTo>
                  <a:lnTo>
                    <a:pt x="24383999" y="0"/>
                  </a:lnTo>
                  <a:lnTo>
                    <a:pt x="24383999" y="1328928"/>
                  </a:lnTo>
                  <a:lnTo>
                    <a:pt x="0" y="1328928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24417782" cy="1362710"/>
            </a:xfrm>
            <a:custGeom>
              <a:avLst/>
              <a:gdLst/>
              <a:ahLst/>
              <a:cxnLst/>
              <a:rect l="l" t="t" r="r" b="b"/>
              <a:pathLst>
                <a:path w="24417782" h="136271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345819"/>
                  </a:lnTo>
                  <a:cubicBezTo>
                    <a:pt x="24417782" y="1355217"/>
                    <a:pt x="24410163" y="1362710"/>
                    <a:pt x="24400890" y="1362710"/>
                  </a:cubicBezTo>
                  <a:lnTo>
                    <a:pt x="16891" y="1362710"/>
                  </a:lnTo>
                  <a:cubicBezTo>
                    <a:pt x="7493" y="1362710"/>
                    <a:pt x="0" y="1355090"/>
                    <a:pt x="0" y="13458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45819"/>
                  </a:lnTo>
                  <a:lnTo>
                    <a:pt x="16891" y="1345819"/>
                  </a:lnTo>
                  <a:lnTo>
                    <a:pt x="16891" y="1328928"/>
                  </a:lnTo>
                  <a:lnTo>
                    <a:pt x="24400890" y="1328928"/>
                  </a:lnTo>
                  <a:lnTo>
                    <a:pt x="24400890" y="1345819"/>
                  </a:lnTo>
                  <a:lnTo>
                    <a:pt x="24384000" y="134581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F5E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2037083"/>
            <a:chOff x="0" y="0"/>
            <a:chExt cx="24417871" cy="271611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2682240"/>
            </a:xfrm>
            <a:custGeom>
              <a:avLst/>
              <a:gdLst/>
              <a:ahLst/>
              <a:cxnLst/>
              <a:rect l="l" t="t" r="r" b="b"/>
              <a:pathLst>
                <a:path w="24383999" h="2682240">
                  <a:moveTo>
                    <a:pt x="0" y="0"/>
                  </a:moveTo>
                  <a:lnTo>
                    <a:pt x="24383999" y="0"/>
                  </a:lnTo>
                  <a:lnTo>
                    <a:pt x="24383999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2716022"/>
            </a:xfrm>
            <a:custGeom>
              <a:avLst/>
              <a:gdLst/>
              <a:ahLst/>
              <a:cxnLst/>
              <a:rect l="l" t="t" r="r" b="b"/>
              <a:pathLst>
                <a:path w="24417782" h="271602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699131"/>
                  </a:lnTo>
                  <a:cubicBezTo>
                    <a:pt x="24417782" y="2708529"/>
                    <a:pt x="24410163" y="2716022"/>
                    <a:pt x="24400890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4400890" y="2682240"/>
                  </a:lnTo>
                  <a:lnTo>
                    <a:pt x="24400890" y="2699131"/>
                  </a:lnTo>
                  <a:lnTo>
                    <a:pt x="24384000" y="269913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2F5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-12697"/>
            <a:ext cx="171707" cy="2037083"/>
            <a:chOff x="0" y="0"/>
            <a:chExt cx="228943" cy="271611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95072" cy="2682240"/>
            </a:xfrm>
            <a:custGeom>
              <a:avLst/>
              <a:gdLst/>
              <a:ahLst/>
              <a:cxnLst/>
              <a:rect l="l" t="t" r="r" b="b"/>
              <a:pathLst>
                <a:path w="195072" h="2682240">
                  <a:moveTo>
                    <a:pt x="0" y="0"/>
                  </a:moveTo>
                  <a:lnTo>
                    <a:pt x="195072" y="0"/>
                  </a:lnTo>
                  <a:lnTo>
                    <a:pt x="195072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28854" cy="2716022"/>
            </a:xfrm>
            <a:custGeom>
              <a:avLst/>
              <a:gdLst/>
              <a:ahLst/>
              <a:cxnLst/>
              <a:rect l="l" t="t" r="r" b="b"/>
              <a:pathLst>
                <a:path w="228854" h="271602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699131"/>
                  </a:lnTo>
                  <a:cubicBezTo>
                    <a:pt x="228854" y="2708529"/>
                    <a:pt x="221234" y="2716022"/>
                    <a:pt x="211963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11963" y="2682240"/>
                  </a:lnTo>
                  <a:lnTo>
                    <a:pt x="211963" y="2699131"/>
                  </a:lnTo>
                  <a:lnTo>
                    <a:pt x="195072" y="26991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0080" y="0"/>
            <a:ext cx="16459200" cy="2011680"/>
            <a:chOff x="0" y="0"/>
            <a:chExt cx="21945600" cy="2682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2682240"/>
            </a:xfrm>
            <a:custGeom>
              <a:avLst/>
              <a:gdLst/>
              <a:ahLst/>
              <a:cxnLst/>
              <a:rect l="l" t="t" r="r" b="b"/>
              <a:pathLst>
                <a:path w="21945600" h="2682240">
                  <a:moveTo>
                    <a:pt x="0" y="0"/>
                  </a:moveTo>
                  <a:lnTo>
                    <a:pt x="21945600" y="0"/>
                  </a:lnTo>
                  <a:lnTo>
                    <a:pt x="219456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9423" b="-10942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1945600" cy="2796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Analysis Process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8903" y="5199383"/>
            <a:ext cx="15570203" cy="98555"/>
            <a:chOff x="0" y="0"/>
            <a:chExt cx="20760271" cy="13140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0726399" cy="97536"/>
            </a:xfrm>
            <a:custGeom>
              <a:avLst/>
              <a:gdLst/>
              <a:ahLst/>
              <a:cxnLst/>
              <a:rect l="l" t="t" r="r" b="b"/>
              <a:pathLst>
                <a:path w="20726399" h="97536">
                  <a:moveTo>
                    <a:pt x="0" y="0"/>
                  </a:moveTo>
                  <a:lnTo>
                    <a:pt x="20726399" y="0"/>
                  </a:lnTo>
                  <a:lnTo>
                    <a:pt x="20726399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0760182" cy="131320"/>
            </a:xfrm>
            <a:custGeom>
              <a:avLst/>
              <a:gdLst/>
              <a:ahLst/>
              <a:cxnLst/>
              <a:rect l="l" t="t" r="r" b="b"/>
              <a:pathLst>
                <a:path w="20760182" h="131320">
                  <a:moveTo>
                    <a:pt x="16891" y="0"/>
                  </a:moveTo>
                  <a:lnTo>
                    <a:pt x="20743290" y="0"/>
                  </a:lnTo>
                  <a:cubicBezTo>
                    <a:pt x="20752690" y="0"/>
                    <a:pt x="20760182" y="7620"/>
                    <a:pt x="20760182" y="16891"/>
                  </a:cubicBezTo>
                  <a:lnTo>
                    <a:pt x="20760182" y="114427"/>
                  </a:lnTo>
                  <a:cubicBezTo>
                    <a:pt x="20760182" y="123825"/>
                    <a:pt x="20752563" y="131318"/>
                    <a:pt x="20743290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20743290" y="97536"/>
                  </a:lnTo>
                  <a:lnTo>
                    <a:pt x="20743290" y="114427"/>
                  </a:lnTo>
                  <a:lnTo>
                    <a:pt x="20726400" y="114427"/>
                  </a:lnTo>
                  <a:lnTo>
                    <a:pt x="20726400" y="16891"/>
                  </a:lnTo>
                  <a:lnTo>
                    <a:pt x="20743290" y="16891"/>
                  </a:lnTo>
                  <a:lnTo>
                    <a:pt x="207432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816103" y="2547623"/>
            <a:ext cx="98555" cy="2622299"/>
            <a:chOff x="0" y="0"/>
            <a:chExt cx="131407" cy="3496399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97536" cy="3462528"/>
            </a:xfrm>
            <a:custGeom>
              <a:avLst/>
              <a:gdLst/>
              <a:ahLst/>
              <a:cxnLst/>
              <a:rect l="l" t="t" r="r" b="b"/>
              <a:pathLst>
                <a:path w="97536" h="3462528">
                  <a:moveTo>
                    <a:pt x="0" y="0"/>
                  </a:moveTo>
                  <a:lnTo>
                    <a:pt x="97536" y="0"/>
                  </a:lnTo>
                  <a:lnTo>
                    <a:pt x="97536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31318" cy="3496310"/>
            </a:xfrm>
            <a:custGeom>
              <a:avLst/>
              <a:gdLst/>
              <a:ahLst/>
              <a:cxnLst/>
              <a:rect l="l" t="t" r="r" b="b"/>
              <a:pathLst>
                <a:path w="131318" h="3496310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479419"/>
                  </a:lnTo>
                  <a:cubicBezTo>
                    <a:pt x="131318" y="3488817"/>
                    <a:pt x="123698" y="3496310"/>
                    <a:pt x="114427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14427" y="3462528"/>
                  </a:lnTo>
                  <a:lnTo>
                    <a:pt x="114427" y="3479419"/>
                  </a:lnTo>
                  <a:lnTo>
                    <a:pt x="97536" y="34794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358903" y="4833623"/>
            <a:ext cx="1031243" cy="1031243"/>
            <a:chOff x="0" y="0"/>
            <a:chExt cx="1374991" cy="13749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371600" y="4846320"/>
            <a:ext cx="1005840" cy="1005840"/>
            <a:chOff x="0" y="0"/>
            <a:chExt cx="134112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73687" y="2273303"/>
            <a:ext cx="2219963" cy="1945643"/>
            <a:chOff x="0" y="0"/>
            <a:chExt cx="2959951" cy="259419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2926080" cy="2560320"/>
            </a:xfrm>
            <a:custGeom>
              <a:avLst/>
              <a:gdLst/>
              <a:ahLst/>
              <a:cxnLst/>
              <a:rect l="l" t="t" r="r" b="b"/>
              <a:pathLst>
                <a:path w="2926080" h="2560320">
                  <a:moveTo>
                    <a:pt x="0" y="0"/>
                  </a:moveTo>
                  <a:lnTo>
                    <a:pt x="2926080" y="0"/>
                  </a:lnTo>
                  <a:lnTo>
                    <a:pt x="29260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959862" cy="2594102"/>
            </a:xfrm>
            <a:custGeom>
              <a:avLst/>
              <a:gdLst/>
              <a:ahLst/>
              <a:cxnLst/>
              <a:rect l="l" t="t" r="r" b="b"/>
              <a:pathLst>
                <a:path w="2959862" h="259410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2577211"/>
                  </a:lnTo>
                  <a:cubicBezTo>
                    <a:pt x="2959862" y="2586609"/>
                    <a:pt x="2952242" y="2594102"/>
                    <a:pt x="29429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942971" y="2560320"/>
                  </a:lnTo>
                  <a:lnTo>
                    <a:pt x="2942971" y="2577211"/>
                  </a:lnTo>
                  <a:lnTo>
                    <a:pt x="2926080" y="25772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316736" y="2523744"/>
            <a:ext cx="1005840" cy="1005840"/>
            <a:chOff x="0" y="0"/>
            <a:chExt cx="1341120" cy="1341120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535943" y="6168647"/>
            <a:ext cx="2988059" cy="3500123"/>
            <a:chOff x="0" y="0"/>
            <a:chExt cx="3984079" cy="466683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3950208" cy="4632960"/>
            </a:xfrm>
            <a:custGeom>
              <a:avLst/>
              <a:gdLst/>
              <a:ahLst/>
              <a:cxnLst/>
              <a:rect l="l" t="t" r="r" b="b"/>
              <a:pathLst>
                <a:path w="3950208" h="4632960">
                  <a:moveTo>
                    <a:pt x="0" y="0"/>
                  </a:moveTo>
                  <a:lnTo>
                    <a:pt x="3950208" y="0"/>
                  </a:lnTo>
                  <a:lnTo>
                    <a:pt x="395020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3983990" cy="4666742"/>
            </a:xfrm>
            <a:custGeom>
              <a:avLst/>
              <a:gdLst/>
              <a:ahLst/>
              <a:cxnLst/>
              <a:rect l="l" t="t" r="r" b="b"/>
              <a:pathLst>
                <a:path w="3983990" h="4666742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4649851"/>
                  </a:lnTo>
                  <a:cubicBezTo>
                    <a:pt x="3983990" y="4659249"/>
                    <a:pt x="3976370" y="4666742"/>
                    <a:pt x="396709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3967099" y="4632960"/>
                  </a:lnTo>
                  <a:lnTo>
                    <a:pt x="3967099" y="4649851"/>
                  </a:lnTo>
                  <a:lnTo>
                    <a:pt x="3950208" y="46498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535943" y="6168647"/>
            <a:ext cx="135131" cy="3500123"/>
            <a:chOff x="0" y="0"/>
            <a:chExt cx="180175" cy="466683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146304" cy="4632960"/>
            </a:xfrm>
            <a:custGeom>
              <a:avLst/>
              <a:gdLst/>
              <a:ahLst/>
              <a:cxnLst/>
              <a:rect l="l" t="t" r="r" b="b"/>
              <a:pathLst>
                <a:path w="146304" h="4632960">
                  <a:moveTo>
                    <a:pt x="0" y="0"/>
                  </a:moveTo>
                  <a:lnTo>
                    <a:pt x="146304" y="0"/>
                  </a:lnTo>
                  <a:lnTo>
                    <a:pt x="146304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180086" cy="4666742"/>
            </a:xfrm>
            <a:custGeom>
              <a:avLst/>
              <a:gdLst/>
              <a:ahLst/>
              <a:cxnLst/>
              <a:rect l="l" t="t" r="r" b="b"/>
              <a:pathLst>
                <a:path w="180086" h="4666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649851"/>
                  </a:lnTo>
                  <a:cubicBezTo>
                    <a:pt x="180086" y="4659249"/>
                    <a:pt x="172466" y="4666742"/>
                    <a:pt x="163195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63195" y="4632960"/>
                  </a:lnTo>
                  <a:lnTo>
                    <a:pt x="163195" y="4649851"/>
                  </a:lnTo>
                  <a:lnTo>
                    <a:pt x="146304" y="4649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786384" y="6254496"/>
            <a:ext cx="2596896" cy="768096"/>
            <a:chOff x="0" y="0"/>
            <a:chExt cx="3462528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62528" cy="1024128"/>
            </a:xfrm>
            <a:custGeom>
              <a:avLst/>
              <a:gdLst/>
              <a:ahLst/>
              <a:cxnLst/>
              <a:rect l="l" t="t" r="r" b="b"/>
              <a:pathLst>
                <a:path w="3462528" h="1024128">
                  <a:moveTo>
                    <a:pt x="0" y="0"/>
                  </a:moveTo>
                  <a:lnTo>
                    <a:pt x="3462528" y="0"/>
                  </a:lnTo>
                  <a:lnTo>
                    <a:pt x="34625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7" b="-15877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346252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86384" y="7059168"/>
            <a:ext cx="2596896" cy="2468880"/>
            <a:chOff x="0" y="0"/>
            <a:chExt cx="3462528" cy="32918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462528" cy="3291840"/>
            </a:xfrm>
            <a:custGeom>
              <a:avLst/>
              <a:gdLst/>
              <a:ahLst/>
              <a:cxnLst/>
              <a:rect l="l" t="t" r="r" b="b"/>
              <a:pathLst>
                <a:path w="3462528" h="3291840">
                  <a:moveTo>
                    <a:pt x="0" y="0"/>
                  </a:moveTo>
                  <a:lnTo>
                    <a:pt x="3462528" y="0"/>
                  </a:lnTo>
                  <a:lnTo>
                    <a:pt x="34625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78" r="-71978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3462528" cy="3329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Gathered UK railway journey records covering routes, passengers, ticket types, and timestamps across Jan–Apr 2024.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90823" y="2547623"/>
            <a:ext cx="98555" cy="2622299"/>
            <a:chOff x="0" y="0"/>
            <a:chExt cx="131407" cy="3496399"/>
          </a:xfrm>
        </p:grpSpPr>
        <p:sp>
          <p:nvSpPr>
            <p:cNvPr id="41" name="Freeform 41"/>
            <p:cNvSpPr/>
            <p:nvPr/>
          </p:nvSpPr>
          <p:spPr>
            <a:xfrm>
              <a:off x="16891" y="16891"/>
              <a:ext cx="97536" cy="3462528"/>
            </a:xfrm>
            <a:custGeom>
              <a:avLst/>
              <a:gdLst/>
              <a:ahLst/>
              <a:cxnLst/>
              <a:rect l="l" t="t" r="r" b="b"/>
              <a:pathLst>
                <a:path w="97536" h="3462528">
                  <a:moveTo>
                    <a:pt x="0" y="0"/>
                  </a:moveTo>
                  <a:lnTo>
                    <a:pt x="97536" y="0"/>
                  </a:lnTo>
                  <a:lnTo>
                    <a:pt x="97536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0"/>
              <a:ext cx="131318" cy="3496310"/>
            </a:xfrm>
            <a:custGeom>
              <a:avLst/>
              <a:gdLst/>
              <a:ahLst/>
              <a:cxnLst/>
              <a:rect l="l" t="t" r="r" b="b"/>
              <a:pathLst>
                <a:path w="131318" h="3496310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479419"/>
                  </a:lnTo>
                  <a:cubicBezTo>
                    <a:pt x="131318" y="3488817"/>
                    <a:pt x="123698" y="3496310"/>
                    <a:pt x="114427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14427" y="3462528"/>
                  </a:lnTo>
                  <a:lnTo>
                    <a:pt x="114427" y="3479419"/>
                  </a:lnTo>
                  <a:lnTo>
                    <a:pt x="97536" y="34794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4833623" y="4833623"/>
            <a:ext cx="1031243" cy="1031243"/>
            <a:chOff x="0" y="0"/>
            <a:chExt cx="1374991" cy="1374991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4846320" y="4846320"/>
            <a:ext cx="1005840" cy="1005840"/>
            <a:chOff x="0" y="0"/>
            <a:chExt cx="1341120" cy="13411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248407" y="2273303"/>
            <a:ext cx="2219963" cy="1945643"/>
            <a:chOff x="0" y="0"/>
            <a:chExt cx="2959951" cy="2594191"/>
          </a:xfrm>
        </p:grpSpPr>
        <p:sp>
          <p:nvSpPr>
            <p:cNvPr id="50" name="Freeform 50"/>
            <p:cNvSpPr/>
            <p:nvPr/>
          </p:nvSpPr>
          <p:spPr>
            <a:xfrm>
              <a:off x="16891" y="16891"/>
              <a:ext cx="2926080" cy="2560320"/>
            </a:xfrm>
            <a:custGeom>
              <a:avLst/>
              <a:gdLst/>
              <a:ahLst/>
              <a:cxnLst/>
              <a:rect l="l" t="t" r="r" b="b"/>
              <a:pathLst>
                <a:path w="2926080" h="2560320">
                  <a:moveTo>
                    <a:pt x="0" y="0"/>
                  </a:moveTo>
                  <a:lnTo>
                    <a:pt x="2926080" y="0"/>
                  </a:lnTo>
                  <a:lnTo>
                    <a:pt x="29260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0" y="0"/>
              <a:ext cx="2959862" cy="2594102"/>
            </a:xfrm>
            <a:custGeom>
              <a:avLst/>
              <a:gdLst/>
              <a:ahLst/>
              <a:cxnLst/>
              <a:rect l="l" t="t" r="r" b="b"/>
              <a:pathLst>
                <a:path w="2959862" h="259410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2577211"/>
                  </a:lnTo>
                  <a:cubicBezTo>
                    <a:pt x="2959862" y="2586609"/>
                    <a:pt x="2952242" y="2594102"/>
                    <a:pt x="29429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942971" y="2560320"/>
                  </a:lnTo>
                  <a:lnTo>
                    <a:pt x="2942971" y="2577211"/>
                  </a:lnTo>
                  <a:lnTo>
                    <a:pt x="2926080" y="25772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4791456" y="2523744"/>
            <a:ext cx="1005840" cy="1005840"/>
            <a:chOff x="0" y="0"/>
            <a:chExt cx="1341120" cy="1341120"/>
          </a:xfrm>
        </p:grpSpPr>
        <p:sp>
          <p:nvSpPr>
            <p:cNvPr id="53" name="Freeform 53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4010663" y="6168647"/>
            <a:ext cx="2988059" cy="3500123"/>
            <a:chOff x="0" y="0"/>
            <a:chExt cx="3984079" cy="4666831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3950208" cy="4632960"/>
            </a:xfrm>
            <a:custGeom>
              <a:avLst/>
              <a:gdLst/>
              <a:ahLst/>
              <a:cxnLst/>
              <a:rect l="l" t="t" r="r" b="b"/>
              <a:pathLst>
                <a:path w="3950208" h="4632960">
                  <a:moveTo>
                    <a:pt x="0" y="0"/>
                  </a:moveTo>
                  <a:lnTo>
                    <a:pt x="3950208" y="0"/>
                  </a:lnTo>
                  <a:lnTo>
                    <a:pt x="395020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3983990" cy="4666742"/>
            </a:xfrm>
            <a:custGeom>
              <a:avLst/>
              <a:gdLst/>
              <a:ahLst/>
              <a:cxnLst/>
              <a:rect l="l" t="t" r="r" b="b"/>
              <a:pathLst>
                <a:path w="3983990" h="4666742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4649851"/>
                  </a:lnTo>
                  <a:cubicBezTo>
                    <a:pt x="3983990" y="4659249"/>
                    <a:pt x="3976370" y="4666742"/>
                    <a:pt x="396709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3967099" y="4632960"/>
                  </a:lnTo>
                  <a:lnTo>
                    <a:pt x="3967099" y="4649851"/>
                  </a:lnTo>
                  <a:lnTo>
                    <a:pt x="3950208" y="46498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4010663" y="6168647"/>
            <a:ext cx="135131" cy="3500123"/>
            <a:chOff x="0" y="0"/>
            <a:chExt cx="180175" cy="4666831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146304" cy="4632960"/>
            </a:xfrm>
            <a:custGeom>
              <a:avLst/>
              <a:gdLst/>
              <a:ahLst/>
              <a:cxnLst/>
              <a:rect l="l" t="t" r="r" b="b"/>
              <a:pathLst>
                <a:path w="146304" h="4632960">
                  <a:moveTo>
                    <a:pt x="0" y="0"/>
                  </a:moveTo>
                  <a:lnTo>
                    <a:pt x="146304" y="0"/>
                  </a:lnTo>
                  <a:lnTo>
                    <a:pt x="146304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80086" cy="4666742"/>
            </a:xfrm>
            <a:custGeom>
              <a:avLst/>
              <a:gdLst/>
              <a:ahLst/>
              <a:cxnLst/>
              <a:rect l="l" t="t" r="r" b="b"/>
              <a:pathLst>
                <a:path w="180086" h="4666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649851"/>
                  </a:lnTo>
                  <a:cubicBezTo>
                    <a:pt x="180086" y="4659249"/>
                    <a:pt x="172466" y="4666742"/>
                    <a:pt x="163195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63195" y="4632960"/>
                  </a:lnTo>
                  <a:lnTo>
                    <a:pt x="163195" y="4649851"/>
                  </a:lnTo>
                  <a:lnTo>
                    <a:pt x="146304" y="4649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4261104" y="6254496"/>
            <a:ext cx="2596896" cy="768096"/>
            <a:chOff x="0" y="0"/>
            <a:chExt cx="3462528" cy="102412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462528" cy="1024128"/>
            </a:xfrm>
            <a:custGeom>
              <a:avLst/>
              <a:gdLst/>
              <a:ahLst/>
              <a:cxnLst/>
              <a:rect l="l" t="t" r="r" b="b"/>
              <a:pathLst>
                <a:path w="3462528" h="1024128">
                  <a:moveTo>
                    <a:pt x="0" y="0"/>
                  </a:moveTo>
                  <a:lnTo>
                    <a:pt x="3462528" y="0"/>
                  </a:lnTo>
                  <a:lnTo>
                    <a:pt x="34625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7" b="-15877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346252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61104" y="7059168"/>
            <a:ext cx="2596896" cy="2468880"/>
            <a:chOff x="0" y="0"/>
            <a:chExt cx="3462528" cy="32918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462528" cy="3291840"/>
            </a:xfrm>
            <a:custGeom>
              <a:avLst/>
              <a:gdLst/>
              <a:ahLst/>
              <a:cxnLst/>
              <a:rect l="l" t="t" r="r" b="b"/>
              <a:pathLst>
                <a:path w="3462528" h="3291840">
                  <a:moveTo>
                    <a:pt x="0" y="0"/>
                  </a:moveTo>
                  <a:lnTo>
                    <a:pt x="3462528" y="0"/>
                  </a:lnTo>
                  <a:lnTo>
                    <a:pt x="34625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78" r="-71978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3462528" cy="3329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Handled missing values, removed duplicates, standardized date formats, and validated revenue and passenger counts.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765543" y="2547623"/>
            <a:ext cx="98555" cy="2622299"/>
            <a:chOff x="0" y="0"/>
            <a:chExt cx="131407" cy="3496399"/>
          </a:xfrm>
        </p:grpSpPr>
        <p:sp>
          <p:nvSpPr>
            <p:cNvPr id="67" name="Freeform 67"/>
            <p:cNvSpPr/>
            <p:nvPr/>
          </p:nvSpPr>
          <p:spPr>
            <a:xfrm>
              <a:off x="16891" y="16891"/>
              <a:ext cx="97536" cy="3462528"/>
            </a:xfrm>
            <a:custGeom>
              <a:avLst/>
              <a:gdLst/>
              <a:ahLst/>
              <a:cxnLst/>
              <a:rect l="l" t="t" r="r" b="b"/>
              <a:pathLst>
                <a:path w="97536" h="3462528">
                  <a:moveTo>
                    <a:pt x="0" y="0"/>
                  </a:moveTo>
                  <a:lnTo>
                    <a:pt x="97536" y="0"/>
                  </a:lnTo>
                  <a:lnTo>
                    <a:pt x="97536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0" y="0"/>
              <a:ext cx="131318" cy="3496310"/>
            </a:xfrm>
            <a:custGeom>
              <a:avLst/>
              <a:gdLst/>
              <a:ahLst/>
              <a:cxnLst/>
              <a:rect l="l" t="t" r="r" b="b"/>
              <a:pathLst>
                <a:path w="131318" h="3496310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479419"/>
                  </a:lnTo>
                  <a:cubicBezTo>
                    <a:pt x="131318" y="3488817"/>
                    <a:pt x="123698" y="3496310"/>
                    <a:pt x="114427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14427" y="3462528"/>
                  </a:lnTo>
                  <a:lnTo>
                    <a:pt x="114427" y="3479419"/>
                  </a:lnTo>
                  <a:lnTo>
                    <a:pt x="97536" y="34794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8308343" y="4833623"/>
            <a:ext cx="1031243" cy="1031243"/>
            <a:chOff x="0" y="0"/>
            <a:chExt cx="1374991" cy="1374991"/>
          </a:xfrm>
        </p:grpSpPr>
        <p:sp>
          <p:nvSpPr>
            <p:cNvPr id="70" name="Freeform 70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8321040" y="4846320"/>
            <a:ext cx="1005840" cy="1005840"/>
            <a:chOff x="0" y="0"/>
            <a:chExt cx="1341120" cy="134112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723127" y="2273303"/>
            <a:ext cx="2219963" cy="1945643"/>
            <a:chOff x="0" y="0"/>
            <a:chExt cx="2959951" cy="2594191"/>
          </a:xfrm>
        </p:grpSpPr>
        <p:sp>
          <p:nvSpPr>
            <p:cNvPr id="76" name="Freeform 76"/>
            <p:cNvSpPr/>
            <p:nvPr/>
          </p:nvSpPr>
          <p:spPr>
            <a:xfrm>
              <a:off x="16891" y="16891"/>
              <a:ext cx="2926080" cy="2560320"/>
            </a:xfrm>
            <a:custGeom>
              <a:avLst/>
              <a:gdLst/>
              <a:ahLst/>
              <a:cxnLst/>
              <a:rect l="l" t="t" r="r" b="b"/>
              <a:pathLst>
                <a:path w="2926080" h="2560320">
                  <a:moveTo>
                    <a:pt x="0" y="0"/>
                  </a:moveTo>
                  <a:lnTo>
                    <a:pt x="2926080" y="0"/>
                  </a:lnTo>
                  <a:lnTo>
                    <a:pt x="29260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2959862" cy="2594102"/>
            </a:xfrm>
            <a:custGeom>
              <a:avLst/>
              <a:gdLst/>
              <a:ahLst/>
              <a:cxnLst/>
              <a:rect l="l" t="t" r="r" b="b"/>
              <a:pathLst>
                <a:path w="2959862" h="259410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2577211"/>
                  </a:lnTo>
                  <a:cubicBezTo>
                    <a:pt x="2959862" y="2586609"/>
                    <a:pt x="2952242" y="2594102"/>
                    <a:pt x="29429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942971" y="2560320"/>
                  </a:lnTo>
                  <a:lnTo>
                    <a:pt x="2942971" y="2577211"/>
                  </a:lnTo>
                  <a:lnTo>
                    <a:pt x="2926080" y="25772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8266176" y="2523744"/>
            <a:ext cx="1005840" cy="1005840"/>
            <a:chOff x="0" y="0"/>
            <a:chExt cx="1341120" cy="1341120"/>
          </a:xfrm>
        </p:grpSpPr>
        <p:sp>
          <p:nvSpPr>
            <p:cNvPr id="79" name="Freeform 79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80" name="Group 80"/>
          <p:cNvGrpSpPr/>
          <p:nvPr/>
        </p:nvGrpSpPr>
        <p:grpSpPr>
          <a:xfrm>
            <a:off x="7485383" y="6168647"/>
            <a:ext cx="2988059" cy="3500123"/>
            <a:chOff x="0" y="0"/>
            <a:chExt cx="3984079" cy="4666831"/>
          </a:xfrm>
        </p:grpSpPr>
        <p:sp>
          <p:nvSpPr>
            <p:cNvPr id="81" name="Freeform 81"/>
            <p:cNvSpPr/>
            <p:nvPr/>
          </p:nvSpPr>
          <p:spPr>
            <a:xfrm>
              <a:off x="16891" y="16891"/>
              <a:ext cx="3950208" cy="4632960"/>
            </a:xfrm>
            <a:custGeom>
              <a:avLst/>
              <a:gdLst/>
              <a:ahLst/>
              <a:cxnLst/>
              <a:rect l="l" t="t" r="r" b="b"/>
              <a:pathLst>
                <a:path w="3950208" h="4632960">
                  <a:moveTo>
                    <a:pt x="0" y="0"/>
                  </a:moveTo>
                  <a:lnTo>
                    <a:pt x="3950208" y="0"/>
                  </a:lnTo>
                  <a:lnTo>
                    <a:pt x="395020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82" name="Freeform 82"/>
            <p:cNvSpPr/>
            <p:nvPr/>
          </p:nvSpPr>
          <p:spPr>
            <a:xfrm>
              <a:off x="0" y="0"/>
              <a:ext cx="3983990" cy="4666742"/>
            </a:xfrm>
            <a:custGeom>
              <a:avLst/>
              <a:gdLst/>
              <a:ahLst/>
              <a:cxnLst/>
              <a:rect l="l" t="t" r="r" b="b"/>
              <a:pathLst>
                <a:path w="3983990" h="4666742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4649851"/>
                  </a:lnTo>
                  <a:cubicBezTo>
                    <a:pt x="3983990" y="4659249"/>
                    <a:pt x="3976370" y="4666742"/>
                    <a:pt x="396709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3967099" y="4632960"/>
                  </a:lnTo>
                  <a:lnTo>
                    <a:pt x="3967099" y="4649851"/>
                  </a:lnTo>
                  <a:lnTo>
                    <a:pt x="3950208" y="46498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83" name="Group 83"/>
          <p:cNvGrpSpPr/>
          <p:nvPr/>
        </p:nvGrpSpPr>
        <p:grpSpPr>
          <a:xfrm>
            <a:off x="7485383" y="6168647"/>
            <a:ext cx="135131" cy="3500123"/>
            <a:chOff x="0" y="0"/>
            <a:chExt cx="180175" cy="4666831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146304" cy="4632960"/>
            </a:xfrm>
            <a:custGeom>
              <a:avLst/>
              <a:gdLst/>
              <a:ahLst/>
              <a:cxnLst/>
              <a:rect l="l" t="t" r="r" b="b"/>
              <a:pathLst>
                <a:path w="146304" h="4632960">
                  <a:moveTo>
                    <a:pt x="0" y="0"/>
                  </a:moveTo>
                  <a:lnTo>
                    <a:pt x="146304" y="0"/>
                  </a:lnTo>
                  <a:lnTo>
                    <a:pt x="146304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180086" cy="4666742"/>
            </a:xfrm>
            <a:custGeom>
              <a:avLst/>
              <a:gdLst/>
              <a:ahLst/>
              <a:cxnLst/>
              <a:rect l="l" t="t" r="r" b="b"/>
              <a:pathLst>
                <a:path w="180086" h="4666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649851"/>
                  </a:lnTo>
                  <a:cubicBezTo>
                    <a:pt x="180086" y="4659249"/>
                    <a:pt x="172466" y="4666742"/>
                    <a:pt x="163195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63195" y="4632960"/>
                  </a:lnTo>
                  <a:lnTo>
                    <a:pt x="163195" y="4649851"/>
                  </a:lnTo>
                  <a:lnTo>
                    <a:pt x="146304" y="4649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86" name="Group 86"/>
          <p:cNvGrpSpPr/>
          <p:nvPr/>
        </p:nvGrpSpPr>
        <p:grpSpPr>
          <a:xfrm>
            <a:off x="7735824" y="6254496"/>
            <a:ext cx="2596896" cy="768096"/>
            <a:chOff x="0" y="0"/>
            <a:chExt cx="3462528" cy="102412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462528" cy="1024128"/>
            </a:xfrm>
            <a:custGeom>
              <a:avLst/>
              <a:gdLst/>
              <a:ahLst/>
              <a:cxnLst/>
              <a:rect l="l" t="t" r="r" b="b"/>
              <a:pathLst>
                <a:path w="3462528" h="1024128">
                  <a:moveTo>
                    <a:pt x="0" y="0"/>
                  </a:moveTo>
                  <a:lnTo>
                    <a:pt x="3462528" y="0"/>
                  </a:lnTo>
                  <a:lnTo>
                    <a:pt x="34625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7" b="-15877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47625"/>
              <a:ext cx="346252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Processing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735824" y="7059168"/>
            <a:ext cx="2596896" cy="2468880"/>
            <a:chOff x="0" y="0"/>
            <a:chExt cx="3462528" cy="32918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462528" cy="3291840"/>
            </a:xfrm>
            <a:custGeom>
              <a:avLst/>
              <a:gdLst/>
              <a:ahLst/>
              <a:cxnLst/>
              <a:rect l="l" t="t" r="r" b="b"/>
              <a:pathLst>
                <a:path w="3462528" h="3291840">
                  <a:moveTo>
                    <a:pt x="0" y="0"/>
                  </a:moveTo>
                  <a:lnTo>
                    <a:pt x="3462528" y="0"/>
                  </a:lnTo>
                  <a:lnTo>
                    <a:pt x="34625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78" r="-71978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3462528" cy="3329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Engineered features: day segments, lead time, monthly growth rate, and delay categorization for analysis.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2240263" y="2547623"/>
            <a:ext cx="98555" cy="2622299"/>
            <a:chOff x="0" y="0"/>
            <a:chExt cx="131407" cy="3496399"/>
          </a:xfrm>
        </p:grpSpPr>
        <p:sp>
          <p:nvSpPr>
            <p:cNvPr id="93" name="Freeform 93"/>
            <p:cNvSpPr/>
            <p:nvPr/>
          </p:nvSpPr>
          <p:spPr>
            <a:xfrm>
              <a:off x="16891" y="16891"/>
              <a:ext cx="97536" cy="3462528"/>
            </a:xfrm>
            <a:custGeom>
              <a:avLst/>
              <a:gdLst/>
              <a:ahLst/>
              <a:cxnLst/>
              <a:rect l="l" t="t" r="r" b="b"/>
              <a:pathLst>
                <a:path w="97536" h="3462528">
                  <a:moveTo>
                    <a:pt x="0" y="0"/>
                  </a:moveTo>
                  <a:lnTo>
                    <a:pt x="97536" y="0"/>
                  </a:lnTo>
                  <a:lnTo>
                    <a:pt x="97536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94" name="Freeform 94"/>
            <p:cNvSpPr/>
            <p:nvPr/>
          </p:nvSpPr>
          <p:spPr>
            <a:xfrm>
              <a:off x="0" y="0"/>
              <a:ext cx="131318" cy="3496310"/>
            </a:xfrm>
            <a:custGeom>
              <a:avLst/>
              <a:gdLst/>
              <a:ahLst/>
              <a:cxnLst/>
              <a:rect l="l" t="t" r="r" b="b"/>
              <a:pathLst>
                <a:path w="131318" h="3496310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479419"/>
                  </a:lnTo>
                  <a:cubicBezTo>
                    <a:pt x="131318" y="3488817"/>
                    <a:pt x="123698" y="3496310"/>
                    <a:pt x="114427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14427" y="3462528"/>
                  </a:lnTo>
                  <a:lnTo>
                    <a:pt x="114427" y="3479419"/>
                  </a:lnTo>
                  <a:lnTo>
                    <a:pt x="97536" y="34794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95" name="Group 95"/>
          <p:cNvGrpSpPr/>
          <p:nvPr/>
        </p:nvGrpSpPr>
        <p:grpSpPr>
          <a:xfrm>
            <a:off x="11783063" y="4833623"/>
            <a:ext cx="1031243" cy="1031243"/>
            <a:chOff x="0" y="0"/>
            <a:chExt cx="1374991" cy="1374991"/>
          </a:xfrm>
        </p:grpSpPr>
        <p:sp>
          <p:nvSpPr>
            <p:cNvPr id="96" name="Freeform 96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98" name="Group 98"/>
          <p:cNvGrpSpPr/>
          <p:nvPr/>
        </p:nvGrpSpPr>
        <p:grpSpPr>
          <a:xfrm>
            <a:off x="11795760" y="4846320"/>
            <a:ext cx="1005840" cy="1005840"/>
            <a:chOff x="0" y="0"/>
            <a:chExt cx="1341120" cy="1341120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1197847" y="2273303"/>
            <a:ext cx="2219963" cy="1945643"/>
            <a:chOff x="0" y="0"/>
            <a:chExt cx="2959951" cy="259419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2926080" cy="2560320"/>
            </a:xfrm>
            <a:custGeom>
              <a:avLst/>
              <a:gdLst/>
              <a:ahLst/>
              <a:cxnLst/>
              <a:rect l="l" t="t" r="r" b="b"/>
              <a:pathLst>
                <a:path w="2926080" h="2560320">
                  <a:moveTo>
                    <a:pt x="0" y="0"/>
                  </a:moveTo>
                  <a:lnTo>
                    <a:pt x="2926080" y="0"/>
                  </a:lnTo>
                  <a:lnTo>
                    <a:pt x="29260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2959862" cy="2594102"/>
            </a:xfrm>
            <a:custGeom>
              <a:avLst/>
              <a:gdLst/>
              <a:ahLst/>
              <a:cxnLst/>
              <a:rect l="l" t="t" r="r" b="b"/>
              <a:pathLst>
                <a:path w="2959862" h="259410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2577211"/>
                  </a:lnTo>
                  <a:cubicBezTo>
                    <a:pt x="2959862" y="2586609"/>
                    <a:pt x="2952242" y="2594102"/>
                    <a:pt x="29429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942971" y="2560320"/>
                  </a:lnTo>
                  <a:lnTo>
                    <a:pt x="2942971" y="2577211"/>
                  </a:lnTo>
                  <a:lnTo>
                    <a:pt x="2926080" y="25772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11740896" y="2523744"/>
            <a:ext cx="1005840" cy="1005840"/>
            <a:chOff x="0" y="0"/>
            <a:chExt cx="1341120" cy="1341120"/>
          </a:xfrm>
        </p:grpSpPr>
        <p:sp>
          <p:nvSpPr>
            <p:cNvPr id="105" name="Freeform 105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106" name="Group 106"/>
          <p:cNvGrpSpPr/>
          <p:nvPr/>
        </p:nvGrpSpPr>
        <p:grpSpPr>
          <a:xfrm>
            <a:off x="10960103" y="6168647"/>
            <a:ext cx="2988059" cy="3500123"/>
            <a:chOff x="0" y="0"/>
            <a:chExt cx="3984079" cy="4666831"/>
          </a:xfrm>
        </p:grpSpPr>
        <p:sp>
          <p:nvSpPr>
            <p:cNvPr id="107" name="Freeform 107"/>
            <p:cNvSpPr/>
            <p:nvPr/>
          </p:nvSpPr>
          <p:spPr>
            <a:xfrm>
              <a:off x="16891" y="16891"/>
              <a:ext cx="3950208" cy="4632960"/>
            </a:xfrm>
            <a:custGeom>
              <a:avLst/>
              <a:gdLst/>
              <a:ahLst/>
              <a:cxnLst/>
              <a:rect l="l" t="t" r="r" b="b"/>
              <a:pathLst>
                <a:path w="3950208" h="4632960">
                  <a:moveTo>
                    <a:pt x="0" y="0"/>
                  </a:moveTo>
                  <a:lnTo>
                    <a:pt x="3950208" y="0"/>
                  </a:lnTo>
                  <a:lnTo>
                    <a:pt x="395020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108" name="Freeform 108"/>
            <p:cNvSpPr/>
            <p:nvPr/>
          </p:nvSpPr>
          <p:spPr>
            <a:xfrm>
              <a:off x="0" y="0"/>
              <a:ext cx="3983990" cy="4666742"/>
            </a:xfrm>
            <a:custGeom>
              <a:avLst/>
              <a:gdLst/>
              <a:ahLst/>
              <a:cxnLst/>
              <a:rect l="l" t="t" r="r" b="b"/>
              <a:pathLst>
                <a:path w="3983990" h="4666742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4649851"/>
                  </a:lnTo>
                  <a:cubicBezTo>
                    <a:pt x="3983990" y="4659249"/>
                    <a:pt x="3976370" y="4666742"/>
                    <a:pt x="396709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3967099" y="4632960"/>
                  </a:lnTo>
                  <a:lnTo>
                    <a:pt x="3967099" y="4649851"/>
                  </a:lnTo>
                  <a:lnTo>
                    <a:pt x="3950208" y="46498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09" name="Group 109"/>
          <p:cNvGrpSpPr/>
          <p:nvPr/>
        </p:nvGrpSpPr>
        <p:grpSpPr>
          <a:xfrm>
            <a:off x="10960103" y="6168647"/>
            <a:ext cx="135131" cy="3500123"/>
            <a:chOff x="0" y="0"/>
            <a:chExt cx="180175" cy="4666831"/>
          </a:xfrm>
        </p:grpSpPr>
        <p:sp>
          <p:nvSpPr>
            <p:cNvPr id="110" name="Freeform 110"/>
            <p:cNvSpPr/>
            <p:nvPr/>
          </p:nvSpPr>
          <p:spPr>
            <a:xfrm>
              <a:off x="16891" y="16891"/>
              <a:ext cx="146304" cy="4632960"/>
            </a:xfrm>
            <a:custGeom>
              <a:avLst/>
              <a:gdLst/>
              <a:ahLst/>
              <a:cxnLst/>
              <a:rect l="l" t="t" r="r" b="b"/>
              <a:pathLst>
                <a:path w="146304" h="4632960">
                  <a:moveTo>
                    <a:pt x="0" y="0"/>
                  </a:moveTo>
                  <a:lnTo>
                    <a:pt x="146304" y="0"/>
                  </a:lnTo>
                  <a:lnTo>
                    <a:pt x="146304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180086" cy="4666742"/>
            </a:xfrm>
            <a:custGeom>
              <a:avLst/>
              <a:gdLst/>
              <a:ahLst/>
              <a:cxnLst/>
              <a:rect l="l" t="t" r="r" b="b"/>
              <a:pathLst>
                <a:path w="180086" h="4666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649851"/>
                  </a:lnTo>
                  <a:cubicBezTo>
                    <a:pt x="180086" y="4659249"/>
                    <a:pt x="172466" y="4666742"/>
                    <a:pt x="163195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63195" y="4632960"/>
                  </a:lnTo>
                  <a:lnTo>
                    <a:pt x="163195" y="4649851"/>
                  </a:lnTo>
                  <a:lnTo>
                    <a:pt x="146304" y="4649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112" name="Group 112"/>
          <p:cNvGrpSpPr/>
          <p:nvPr/>
        </p:nvGrpSpPr>
        <p:grpSpPr>
          <a:xfrm>
            <a:off x="11210544" y="6254496"/>
            <a:ext cx="2596896" cy="768096"/>
            <a:chOff x="0" y="0"/>
            <a:chExt cx="3462528" cy="1024128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3462528" cy="1024128"/>
            </a:xfrm>
            <a:custGeom>
              <a:avLst/>
              <a:gdLst/>
              <a:ahLst/>
              <a:cxnLst/>
              <a:rect l="l" t="t" r="r" b="b"/>
              <a:pathLst>
                <a:path w="3462528" h="1024128">
                  <a:moveTo>
                    <a:pt x="0" y="0"/>
                  </a:moveTo>
                  <a:lnTo>
                    <a:pt x="3462528" y="0"/>
                  </a:lnTo>
                  <a:lnTo>
                    <a:pt x="34625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7" b="-15877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47625"/>
              <a:ext cx="346252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Visualization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1210544" y="7059168"/>
            <a:ext cx="2596896" cy="2468880"/>
            <a:chOff x="0" y="0"/>
            <a:chExt cx="3462528" cy="329184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3462528" cy="3291840"/>
            </a:xfrm>
            <a:custGeom>
              <a:avLst/>
              <a:gdLst/>
              <a:ahLst/>
              <a:cxnLst/>
              <a:rect l="l" t="t" r="r" b="b"/>
              <a:pathLst>
                <a:path w="3462528" h="3291840">
                  <a:moveTo>
                    <a:pt x="0" y="0"/>
                  </a:moveTo>
                  <a:lnTo>
                    <a:pt x="3462528" y="0"/>
                  </a:lnTo>
                  <a:lnTo>
                    <a:pt x="34625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78" r="-71978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38100"/>
              <a:ext cx="3462528" cy="3329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Power BI dashboards with KPIs, route maps, delay charts, revenue trends, and passenger behavior visuals.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5714983" y="2547623"/>
            <a:ext cx="98555" cy="2622299"/>
            <a:chOff x="0" y="0"/>
            <a:chExt cx="131407" cy="3496399"/>
          </a:xfrm>
        </p:grpSpPr>
        <p:sp>
          <p:nvSpPr>
            <p:cNvPr id="119" name="Freeform 119"/>
            <p:cNvSpPr/>
            <p:nvPr/>
          </p:nvSpPr>
          <p:spPr>
            <a:xfrm>
              <a:off x="16891" y="16891"/>
              <a:ext cx="97536" cy="3462528"/>
            </a:xfrm>
            <a:custGeom>
              <a:avLst/>
              <a:gdLst/>
              <a:ahLst/>
              <a:cxnLst/>
              <a:rect l="l" t="t" r="r" b="b"/>
              <a:pathLst>
                <a:path w="97536" h="3462528">
                  <a:moveTo>
                    <a:pt x="0" y="0"/>
                  </a:moveTo>
                  <a:lnTo>
                    <a:pt x="97536" y="0"/>
                  </a:lnTo>
                  <a:lnTo>
                    <a:pt x="97536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20" name="Freeform 120"/>
            <p:cNvSpPr/>
            <p:nvPr/>
          </p:nvSpPr>
          <p:spPr>
            <a:xfrm>
              <a:off x="0" y="0"/>
              <a:ext cx="131318" cy="3496310"/>
            </a:xfrm>
            <a:custGeom>
              <a:avLst/>
              <a:gdLst/>
              <a:ahLst/>
              <a:cxnLst/>
              <a:rect l="l" t="t" r="r" b="b"/>
              <a:pathLst>
                <a:path w="131318" h="3496310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3479419"/>
                  </a:lnTo>
                  <a:cubicBezTo>
                    <a:pt x="131318" y="3488817"/>
                    <a:pt x="123698" y="3496310"/>
                    <a:pt x="114427" y="3496310"/>
                  </a:cubicBezTo>
                  <a:lnTo>
                    <a:pt x="16891" y="3496310"/>
                  </a:lnTo>
                  <a:cubicBezTo>
                    <a:pt x="7493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479419"/>
                  </a:lnTo>
                  <a:lnTo>
                    <a:pt x="16891" y="3479419"/>
                  </a:lnTo>
                  <a:lnTo>
                    <a:pt x="16891" y="3462528"/>
                  </a:lnTo>
                  <a:lnTo>
                    <a:pt x="114427" y="3462528"/>
                  </a:lnTo>
                  <a:lnTo>
                    <a:pt x="114427" y="3479419"/>
                  </a:lnTo>
                  <a:lnTo>
                    <a:pt x="97536" y="3479419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21" name="Group 121"/>
          <p:cNvGrpSpPr/>
          <p:nvPr/>
        </p:nvGrpSpPr>
        <p:grpSpPr>
          <a:xfrm>
            <a:off x="15257783" y="4833623"/>
            <a:ext cx="1031243" cy="1031243"/>
            <a:chOff x="0" y="0"/>
            <a:chExt cx="1374991" cy="1374991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24" name="Group 124"/>
          <p:cNvGrpSpPr/>
          <p:nvPr/>
        </p:nvGrpSpPr>
        <p:grpSpPr>
          <a:xfrm>
            <a:off x="15270480" y="4846320"/>
            <a:ext cx="1005840" cy="1005840"/>
            <a:chOff x="0" y="0"/>
            <a:chExt cx="1341120" cy="134112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26" name="TextBox 126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4672567" y="2273303"/>
            <a:ext cx="2219963" cy="1945643"/>
            <a:chOff x="0" y="0"/>
            <a:chExt cx="2959951" cy="2594191"/>
          </a:xfrm>
        </p:grpSpPr>
        <p:sp>
          <p:nvSpPr>
            <p:cNvPr id="128" name="Freeform 128"/>
            <p:cNvSpPr/>
            <p:nvPr/>
          </p:nvSpPr>
          <p:spPr>
            <a:xfrm>
              <a:off x="16891" y="16891"/>
              <a:ext cx="2926080" cy="2560320"/>
            </a:xfrm>
            <a:custGeom>
              <a:avLst/>
              <a:gdLst/>
              <a:ahLst/>
              <a:cxnLst/>
              <a:rect l="l" t="t" r="r" b="b"/>
              <a:pathLst>
                <a:path w="2926080" h="2560320">
                  <a:moveTo>
                    <a:pt x="0" y="0"/>
                  </a:moveTo>
                  <a:lnTo>
                    <a:pt x="2926080" y="0"/>
                  </a:lnTo>
                  <a:lnTo>
                    <a:pt x="2926080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29" name="Freeform 129"/>
            <p:cNvSpPr/>
            <p:nvPr/>
          </p:nvSpPr>
          <p:spPr>
            <a:xfrm>
              <a:off x="0" y="0"/>
              <a:ext cx="2959862" cy="2594102"/>
            </a:xfrm>
            <a:custGeom>
              <a:avLst/>
              <a:gdLst/>
              <a:ahLst/>
              <a:cxnLst/>
              <a:rect l="l" t="t" r="r" b="b"/>
              <a:pathLst>
                <a:path w="2959862" h="2594102">
                  <a:moveTo>
                    <a:pt x="16891" y="0"/>
                  </a:moveTo>
                  <a:lnTo>
                    <a:pt x="2942971" y="0"/>
                  </a:lnTo>
                  <a:cubicBezTo>
                    <a:pt x="2952369" y="0"/>
                    <a:pt x="2959862" y="7620"/>
                    <a:pt x="2959862" y="16891"/>
                  </a:cubicBezTo>
                  <a:lnTo>
                    <a:pt x="2959862" y="2577211"/>
                  </a:lnTo>
                  <a:cubicBezTo>
                    <a:pt x="2959862" y="2586609"/>
                    <a:pt x="2952242" y="2594102"/>
                    <a:pt x="2942971" y="2594102"/>
                  </a:cubicBezTo>
                  <a:lnTo>
                    <a:pt x="16891" y="2594102"/>
                  </a:lnTo>
                  <a:cubicBezTo>
                    <a:pt x="7493" y="2594102"/>
                    <a:pt x="0" y="2586482"/>
                    <a:pt x="0" y="25772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577211"/>
                  </a:lnTo>
                  <a:lnTo>
                    <a:pt x="16891" y="2577211"/>
                  </a:lnTo>
                  <a:lnTo>
                    <a:pt x="16891" y="2560320"/>
                  </a:lnTo>
                  <a:lnTo>
                    <a:pt x="2942971" y="2560320"/>
                  </a:lnTo>
                  <a:lnTo>
                    <a:pt x="2942971" y="2577211"/>
                  </a:lnTo>
                  <a:lnTo>
                    <a:pt x="2926080" y="2577211"/>
                  </a:lnTo>
                  <a:lnTo>
                    <a:pt x="2926080" y="16891"/>
                  </a:lnTo>
                  <a:lnTo>
                    <a:pt x="2942971" y="16891"/>
                  </a:lnTo>
                  <a:lnTo>
                    <a:pt x="29429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0" name="Group 130"/>
          <p:cNvGrpSpPr/>
          <p:nvPr/>
        </p:nvGrpSpPr>
        <p:grpSpPr>
          <a:xfrm>
            <a:off x="15215616" y="2523744"/>
            <a:ext cx="1005840" cy="1005840"/>
            <a:chOff x="0" y="0"/>
            <a:chExt cx="1341120" cy="1341120"/>
          </a:xfrm>
        </p:grpSpPr>
        <p:sp>
          <p:nvSpPr>
            <p:cNvPr id="131" name="Freeform 131" descr="preencoded.png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132" name="Group 132"/>
          <p:cNvGrpSpPr/>
          <p:nvPr/>
        </p:nvGrpSpPr>
        <p:grpSpPr>
          <a:xfrm>
            <a:off x="14434823" y="6168647"/>
            <a:ext cx="2988059" cy="3500123"/>
            <a:chOff x="0" y="0"/>
            <a:chExt cx="3984079" cy="4666831"/>
          </a:xfrm>
        </p:grpSpPr>
        <p:sp>
          <p:nvSpPr>
            <p:cNvPr id="133" name="Freeform 133"/>
            <p:cNvSpPr/>
            <p:nvPr/>
          </p:nvSpPr>
          <p:spPr>
            <a:xfrm>
              <a:off x="16891" y="16891"/>
              <a:ext cx="3950208" cy="4632960"/>
            </a:xfrm>
            <a:custGeom>
              <a:avLst/>
              <a:gdLst/>
              <a:ahLst/>
              <a:cxnLst/>
              <a:rect l="l" t="t" r="r" b="b"/>
              <a:pathLst>
                <a:path w="3950208" h="4632960">
                  <a:moveTo>
                    <a:pt x="0" y="0"/>
                  </a:moveTo>
                  <a:lnTo>
                    <a:pt x="3950208" y="0"/>
                  </a:lnTo>
                  <a:lnTo>
                    <a:pt x="3950208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EEF2F7"/>
            </a:solidFill>
          </p:spPr>
        </p:sp>
        <p:sp>
          <p:nvSpPr>
            <p:cNvPr id="134" name="Freeform 134"/>
            <p:cNvSpPr/>
            <p:nvPr/>
          </p:nvSpPr>
          <p:spPr>
            <a:xfrm>
              <a:off x="0" y="0"/>
              <a:ext cx="3983990" cy="4666742"/>
            </a:xfrm>
            <a:custGeom>
              <a:avLst/>
              <a:gdLst/>
              <a:ahLst/>
              <a:cxnLst/>
              <a:rect l="l" t="t" r="r" b="b"/>
              <a:pathLst>
                <a:path w="3983990" h="4666742">
                  <a:moveTo>
                    <a:pt x="16891" y="0"/>
                  </a:moveTo>
                  <a:lnTo>
                    <a:pt x="3967099" y="0"/>
                  </a:lnTo>
                  <a:cubicBezTo>
                    <a:pt x="3976497" y="0"/>
                    <a:pt x="3983990" y="7620"/>
                    <a:pt x="3983990" y="16891"/>
                  </a:cubicBezTo>
                  <a:lnTo>
                    <a:pt x="3983990" y="4649851"/>
                  </a:lnTo>
                  <a:cubicBezTo>
                    <a:pt x="3983990" y="4659249"/>
                    <a:pt x="3976370" y="4666742"/>
                    <a:pt x="3967099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3967099" y="4632960"/>
                  </a:lnTo>
                  <a:lnTo>
                    <a:pt x="3967099" y="4649851"/>
                  </a:lnTo>
                  <a:lnTo>
                    <a:pt x="3950208" y="4649851"/>
                  </a:lnTo>
                  <a:lnTo>
                    <a:pt x="3950208" y="16891"/>
                  </a:lnTo>
                  <a:lnTo>
                    <a:pt x="3967099" y="16891"/>
                  </a:lnTo>
                  <a:lnTo>
                    <a:pt x="396709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id="135" name="Group 135"/>
          <p:cNvGrpSpPr/>
          <p:nvPr/>
        </p:nvGrpSpPr>
        <p:grpSpPr>
          <a:xfrm>
            <a:off x="14434823" y="6168647"/>
            <a:ext cx="135131" cy="3500123"/>
            <a:chOff x="0" y="0"/>
            <a:chExt cx="180175" cy="4666831"/>
          </a:xfrm>
        </p:grpSpPr>
        <p:sp>
          <p:nvSpPr>
            <p:cNvPr id="136" name="Freeform 136"/>
            <p:cNvSpPr/>
            <p:nvPr/>
          </p:nvSpPr>
          <p:spPr>
            <a:xfrm>
              <a:off x="16891" y="16891"/>
              <a:ext cx="146304" cy="4632960"/>
            </a:xfrm>
            <a:custGeom>
              <a:avLst/>
              <a:gdLst/>
              <a:ahLst/>
              <a:cxnLst/>
              <a:rect l="l" t="t" r="r" b="b"/>
              <a:pathLst>
                <a:path w="146304" h="4632960">
                  <a:moveTo>
                    <a:pt x="0" y="0"/>
                  </a:moveTo>
                  <a:lnTo>
                    <a:pt x="146304" y="0"/>
                  </a:lnTo>
                  <a:lnTo>
                    <a:pt x="146304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137" name="Freeform 137"/>
            <p:cNvSpPr/>
            <p:nvPr/>
          </p:nvSpPr>
          <p:spPr>
            <a:xfrm>
              <a:off x="0" y="0"/>
              <a:ext cx="180086" cy="4666742"/>
            </a:xfrm>
            <a:custGeom>
              <a:avLst/>
              <a:gdLst/>
              <a:ahLst/>
              <a:cxnLst/>
              <a:rect l="l" t="t" r="r" b="b"/>
              <a:pathLst>
                <a:path w="180086" h="4666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4649851"/>
                  </a:lnTo>
                  <a:cubicBezTo>
                    <a:pt x="180086" y="4659249"/>
                    <a:pt x="172466" y="4666742"/>
                    <a:pt x="163195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63195" y="4632960"/>
                  </a:lnTo>
                  <a:lnTo>
                    <a:pt x="163195" y="4649851"/>
                  </a:lnTo>
                  <a:lnTo>
                    <a:pt x="146304" y="4649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38" name="Group 138"/>
          <p:cNvGrpSpPr/>
          <p:nvPr/>
        </p:nvGrpSpPr>
        <p:grpSpPr>
          <a:xfrm>
            <a:off x="14685264" y="6254496"/>
            <a:ext cx="2596896" cy="768096"/>
            <a:chOff x="0" y="0"/>
            <a:chExt cx="3462528" cy="1024128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3462528" cy="1024128"/>
            </a:xfrm>
            <a:custGeom>
              <a:avLst/>
              <a:gdLst/>
              <a:ahLst/>
              <a:cxnLst/>
              <a:rect l="l" t="t" r="r" b="b"/>
              <a:pathLst>
                <a:path w="3462528" h="1024128">
                  <a:moveTo>
                    <a:pt x="0" y="0"/>
                  </a:moveTo>
                  <a:lnTo>
                    <a:pt x="3462528" y="0"/>
                  </a:lnTo>
                  <a:lnTo>
                    <a:pt x="34625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7" b="-15877"/>
              </a:stretch>
            </a:blipFill>
          </p:spPr>
        </p:sp>
        <p:sp>
          <p:nvSpPr>
            <p:cNvPr id="140" name="TextBox 140"/>
            <p:cNvSpPr txBox="1"/>
            <p:nvPr/>
          </p:nvSpPr>
          <p:spPr>
            <a:xfrm>
              <a:off x="0" y="-47625"/>
              <a:ext cx="3462528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 &amp; Recommendations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4685264" y="7059168"/>
            <a:ext cx="2596896" cy="2468880"/>
            <a:chOff x="0" y="0"/>
            <a:chExt cx="3462528" cy="3291840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3462528" cy="3291840"/>
            </a:xfrm>
            <a:custGeom>
              <a:avLst/>
              <a:gdLst/>
              <a:ahLst/>
              <a:cxnLst/>
              <a:rect l="l" t="t" r="r" b="b"/>
              <a:pathLst>
                <a:path w="3462528" h="3291840">
                  <a:moveTo>
                    <a:pt x="0" y="0"/>
                  </a:moveTo>
                  <a:lnTo>
                    <a:pt x="3462528" y="0"/>
                  </a:lnTo>
                  <a:lnTo>
                    <a:pt x="3462528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978" r="-71978"/>
              </a:stretch>
            </a:blipFill>
          </p:spPr>
        </p:sp>
        <p:sp>
          <p:nvSpPr>
            <p:cNvPr id="143" name="TextBox 143"/>
            <p:cNvSpPr txBox="1"/>
            <p:nvPr/>
          </p:nvSpPr>
          <p:spPr>
            <a:xfrm>
              <a:off x="0" y="-38100"/>
              <a:ext cx="3462528" cy="33299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Derived actionable findings: optimize morning scheduling, target advance ticket buyers, reduce technical delays.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92608" cy="10287000"/>
            <a:chOff x="0" y="0"/>
            <a:chExt cx="390144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0144" cy="13716000"/>
            </a:xfrm>
            <a:custGeom>
              <a:avLst/>
              <a:gdLst/>
              <a:ahLst/>
              <a:cxnLst/>
              <a:rect l="l" t="t" r="r" b="b"/>
              <a:pathLst>
                <a:path w="390144" h="13716000">
                  <a:moveTo>
                    <a:pt x="0" y="0"/>
                  </a:moveTo>
                  <a:lnTo>
                    <a:pt x="390144" y="0"/>
                  </a:lnTo>
                  <a:lnTo>
                    <a:pt x="39014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92608" y="0"/>
            <a:ext cx="17995392" cy="146304"/>
            <a:chOff x="0" y="0"/>
            <a:chExt cx="23993856" cy="195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993856" cy="195072"/>
            </a:xfrm>
            <a:custGeom>
              <a:avLst/>
              <a:gdLst/>
              <a:ahLst/>
              <a:cxnLst/>
              <a:rect l="l" t="t" r="r" b="b"/>
              <a:pathLst>
                <a:path w="23993856" h="195072">
                  <a:moveTo>
                    <a:pt x="0" y="0"/>
                  </a:moveTo>
                  <a:lnTo>
                    <a:pt x="23993856" y="0"/>
                  </a:lnTo>
                  <a:lnTo>
                    <a:pt x="23993856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77824" y="365760"/>
            <a:ext cx="8000000" cy="585216"/>
            <a:chOff x="0" y="0"/>
            <a:chExt cx="10666666" cy="780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666667" cy="780288"/>
            </a:xfrm>
            <a:custGeom>
              <a:avLst/>
              <a:gdLst/>
              <a:ahLst/>
              <a:cxnLst/>
              <a:rect l="l" t="t" r="r" b="b"/>
              <a:pathLst>
                <a:path w="10666667" h="780288">
                  <a:moveTo>
                    <a:pt x="0" y="0"/>
                  </a:moveTo>
                  <a:lnTo>
                    <a:pt x="10666667" y="0"/>
                  </a:lnTo>
                  <a:lnTo>
                    <a:pt x="10666667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6363" b="-21636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666666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OVERVIEW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77824" y="1097280"/>
            <a:ext cx="16400002" cy="1400004"/>
            <a:chOff x="0" y="0"/>
            <a:chExt cx="21866670" cy="18666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866667" cy="1866667"/>
            </a:xfrm>
            <a:custGeom>
              <a:avLst/>
              <a:gdLst/>
              <a:ahLst/>
              <a:cxnLst/>
              <a:rect l="l" t="t" r="r" b="b"/>
              <a:pathLst>
                <a:path w="21866667" h="1866667">
                  <a:moveTo>
                    <a:pt x="0" y="0"/>
                  </a:moveTo>
                  <a:lnTo>
                    <a:pt x="21866667" y="0"/>
                  </a:lnTo>
                  <a:lnTo>
                    <a:pt x="21866667" y="1866667"/>
                  </a:lnTo>
                  <a:lnTo>
                    <a:pt x="0" y="186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8253" b="-17825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21866670" cy="20095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About This Dashboard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8774" y="2724150"/>
            <a:ext cx="16438102" cy="2438105"/>
            <a:chOff x="0" y="0"/>
            <a:chExt cx="21917470" cy="3250806"/>
          </a:xfrm>
        </p:grpSpPr>
        <p:sp>
          <p:nvSpPr>
            <p:cNvPr id="13" name="Freeform 13"/>
            <p:cNvSpPr/>
            <p:nvPr/>
          </p:nvSpPr>
          <p:spPr>
            <a:xfrm>
              <a:off x="25400" y="25400"/>
              <a:ext cx="21866606" cy="3200019"/>
            </a:xfrm>
            <a:custGeom>
              <a:avLst/>
              <a:gdLst/>
              <a:ahLst/>
              <a:cxnLst/>
              <a:rect l="l" t="t" r="r" b="b"/>
              <a:pathLst>
                <a:path w="21866606" h="3200019">
                  <a:moveTo>
                    <a:pt x="0" y="0"/>
                  </a:moveTo>
                  <a:lnTo>
                    <a:pt x="21866606" y="0"/>
                  </a:lnTo>
                  <a:lnTo>
                    <a:pt x="21866606" y="3200019"/>
                  </a:lnTo>
                  <a:lnTo>
                    <a:pt x="0" y="3200019"/>
                  </a:lnTo>
                  <a:close/>
                </a:path>
              </a:pathLst>
            </a:custGeom>
            <a:solidFill>
              <a:srgbClr val="1A2F5E">
                <a:alpha val="63922"/>
              </a:srgbClr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1917406" cy="3250819"/>
            </a:xfrm>
            <a:custGeom>
              <a:avLst/>
              <a:gdLst/>
              <a:ahLst/>
              <a:cxnLst/>
              <a:rect l="l" t="t" r="r" b="b"/>
              <a:pathLst>
                <a:path w="21917406" h="3250819">
                  <a:moveTo>
                    <a:pt x="25400" y="0"/>
                  </a:moveTo>
                  <a:lnTo>
                    <a:pt x="21892006" y="0"/>
                  </a:lnTo>
                  <a:cubicBezTo>
                    <a:pt x="21905976" y="0"/>
                    <a:pt x="21917406" y="11430"/>
                    <a:pt x="21917406" y="25400"/>
                  </a:cubicBezTo>
                  <a:lnTo>
                    <a:pt x="21917406" y="3225419"/>
                  </a:lnTo>
                  <a:cubicBezTo>
                    <a:pt x="21917406" y="3239389"/>
                    <a:pt x="21905976" y="3250819"/>
                    <a:pt x="21892006" y="3250819"/>
                  </a:cubicBezTo>
                  <a:lnTo>
                    <a:pt x="25400" y="3250819"/>
                  </a:lnTo>
                  <a:cubicBezTo>
                    <a:pt x="11430" y="3250819"/>
                    <a:pt x="0" y="3239389"/>
                    <a:pt x="0" y="3225419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3225419"/>
                  </a:lnTo>
                  <a:lnTo>
                    <a:pt x="25400" y="3225419"/>
                  </a:lnTo>
                  <a:lnTo>
                    <a:pt x="25400" y="3200019"/>
                  </a:lnTo>
                  <a:lnTo>
                    <a:pt x="21892006" y="3200019"/>
                  </a:lnTo>
                  <a:lnTo>
                    <a:pt x="21892006" y="3225419"/>
                  </a:lnTo>
                  <a:lnTo>
                    <a:pt x="21866606" y="3225419"/>
                  </a:lnTo>
                  <a:lnTo>
                    <a:pt x="21866606" y="25400"/>
                  </a:lnTo>
                  <a:lnTo>
                    <a:pt x="21892006" y="25400"/>
                  </a:lnTo>
                  <a:lnTo>
                    <a:pt x="21892006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2E5499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77824" y="2743200"/>
            <a:ext cx="146304" cy="2400005"/>
            <a:chOff x="0" y="0"/>
            <a:chExt cx="195072" cy="32000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5072" cy="3200019"/>
            </a:xfrm>
            <a:custGeom>
              <a:avLst/>
              <a:gdLst/>
              <a:ahLst/>
              <a:cxnLst/>
              <a:rect l="l" t="t" r="r" b="b"/>
              <a:pathLst>
                <a:path w="195072" h="3200019">
                  <a:moveTo>
                    <a:pt x="0" y="0"/>
                  </a:moveTo>
                  <a:lnTo>
                    <a:pt x="195072" y="0"/>
                  </a:lnTo>
                  <a:lnTo>
                    <a:pt x="195072" y="3200019"/>
                  </a:lnTo>
                  <a:lnTo>
                    <a:pt x="0" y="320001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168127" y="2799998"/>
            <a:ext cx="15899997" cy="2279999"/>
            <a:chOff x="0" y="0"/>
            <a:chExt cx="21199996" cy="30399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200001" cy="3040000"/>
            </a:xfrm>
            <a:custGeom>
              <a:avLst/>
              <a:gdLst/>
              <a:ahLst/>
              <a:cxnLst/>
              <a:rect l="l" t="t" r="r" b="b"/>
              <a:pathLst>
                <a:path w="21200001" h="3040000">
                  <a:moveTo>
                    <a:pt x="0" y="0"/>
                  </a:moveTo>
                  <a:lnTo>
                    <a:pt x="21200001" y="0"/>
                  </a:lnTo>
                  <a:lnTo>
                    <a:pt x="21200001" y="3040000"/>
                  </a:lnTo>
                  <a:lnTo>
                    <a:pt x="0" y="3040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882" b="-8588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1199996" cy="30876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CBD5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dashboard provides a complete analysis of UK railway operations, passenger behavior, revenue performance, delays, operational efficiency, and future forecasting insights using interactive Power BI visualizations.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77824" y="5876201"/>
            <a:ext cx="3060002" cy="841248"/>
            <a:chOff x="0" y="0"/>
            <a:chExt cx="4080002" cy="112166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80002" cy="1121664"/>
            </a:xfrm>
            <a:custGeom>
              <a:avLst/>
              <a:gdLst/>
              <a:ahLst/>
              <a:cxnLst/>
              <a:rect l="l" t="t" r="r" b="b"/>
              <a:pathLst>
                <a:path w="4080002" h="1121664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3855720" y="0"/>
                  </a:lnTo>
                  <a:cubicBezTo>
                    <a:pt x="3979672" y="0"/>
                    <a:pt x="4080002" y="100457"/>
                    <a:pt x="4080002" y="224282"/>
                  </a:cubicBezTo>
                  <a:lnTo>
                    <a:pt x="4080002" y="897382"/>
                  </a:lnTo>
                  <a:cubicBezTo>
                    <a:pt x="4080002" y="1021334"/>
                    <a:pt x="3979545" y="1121664"/>
                    <a:pt x="3855720" y="1121664"/>
                  </a:cubicBezTo>
                  <a:lnTo>
                    <a:pt x="224282" y="1121664"/>
                  </a:lnTo>
                  <a:cubicBezTo>
                    <a:pt x="100457" y="1121664"/>
                    <a:pt x="0" y="1021207"/>
                    <a:pt x="0" y="897382"/>
                  </a:cubicBezTo>
                  <a:close/>
                </a:path>
              </a:pathLst>
            </a:custGeom>
            <a:solidFill>
              <a:srgbClr val="2E5499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080002" cy="115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 Overview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12824" y="5876201"/>
            <a:ext cx="3060002" cy="841248"/>
            <a:chOff x="0" y="0"/>
            <a:chExt cx="4080002" cy="11216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80002" cy="1121664"/>
            </a:xfrm>
            <a:custGeom>
              <a:avLst/>
              <a:gdLst/>
              <a:ahLst/>
              <a:cxnLst/>
              <a:rect l="l" t="t" r="r" b="b"/>
              <a:pathLst>
                <a:path w="4080002" h="1121664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3855720" y="0"/>
                  </a:lnTo>
                  <a:cubicBezTo>
                    <a:pt x="3979672" y="0"/>
                    <a:pt x="4080002" y="100457"/>
                    <a:pt x="4080002" y="224282"/>
                  </a:cubicBezTo>
                  <a:lnTo>
                    <a:pt x="4080002" y="897382"/>
                  </a:lnTo>
                  <a:cubicBezTo>
                    <a:pt x="4080002" y="1021334"/>
                    <a:pt x="3979545" y="1121664"/>
                    <a:pt x="3855720" y="1121664"/>
                  </a:cubicBezTo>
                  <a:lnTo>
                    <a:pt x="224282" y="1121664"/>
                  </a:lnTo>
                  <a:cubicBezTo>
                    <a:pt x="100457" y="1121664"/>
                    <a:pt x="0" y="1021207"/>
                    <a:pt x="0" y="897382"/>
                  </a:cubicBez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080002" cy="115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 Operations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315000" y="5876201"/>
            <a:ext cx="3060002" cy="841248"/>
            <a:chOff x="0" y="0"/>
            <a:chExt cx="4080002" cy="1121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80002" cy="1121664"/>
            </a:xfrm>
            <a:custGeom>
              <a:avLst/>
              <a:gdLst/>
              <a:ahLst/>
              <a:cxnLst/>
              <a:rect l="l" t="t" r="r" b="b"/>
              <a:pathLst>
                <a:path w="4080002" h="1121664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3855720" y="0"/>
                  </a:lnTo>
                  <a:cubicBezTo>
                    <a:pt x="3979672" y="0"/>
                    <a:pt x="4080002" y="100457"/>
                    <a:pt x="4080002" y="224282"/>
                  </a:cubicBezTo>
                  <a:lnTo>
                    <a:pt x="4080002" y="897382"/>
                  </a:lnTo>
                  <a:cubicBezTo>
                    <a:pt x="4080002" y="1021334"/>
                    <a:pt x="3979545" y="1121664"/>
                    <a:pt x="3855720" y="1121664"/>
                  </a:cubicBezTo>
                  <a:lnTo>
                    <a:pt x="224282" y="1121664"/>
                  </a:lnTo>
                  <a:cubicBezTo>
                    <a:pt x="100457" y="1121664"/>
                    <a:pt x="0" y="1021207"/>
                    <a:pt x="0" y="897382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080002" cy="115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 Sales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98476" y="5876201"/>
            <a:ext cx="3060002" cy="841248"/>
            <a:chOff x="0" y="0"/>
            <a:chExt cx="4080002" cy="1121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80002" cy="1121664"/>
            </a:xfrm>
            <a:custGeom>
              <a:avLst/>
              <a:gdLst/>
              <a:ahLst/>
              <a:cxnLst/>
              <a:rect l="l" t="t" r="r" b="b"/>
              <a:pathLst>
                <a:path w="4080002" h="1121664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3855720" y="0"/>
                  </a:lnTo>
                  <a:cubicBezTo>
                    <a:pt x="3979672" y="0"/>
                    <a:pt x="4080002" y="100457"/>
                    <a:pt x="4080002" y="224282"/>
                  </a:cubicBezTo>
                  <a:lnTo>
                    <a:pt x="4080002" y="897382"/>
                  </a:lnTo>
                  <a:cubicBezTo>
                    <a:pt x="4080002" y="1021334"/>
                    <a:pt x="3979545" y="1121664"/>
                    <a:pt x="3855720" y="1121664"/>
                  </a:cubicBezTo>
                  <a:lnTo>
                    <a:pt x="224282" y="1121664"/>
                  </a:lnTo>
                  <a:cubicBezTo>
                    <a:pt x="100457" y="1121664"/>
                    <a:pt x="0" y="1021207"/>
                    <a:pt x="0" y="897382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080002" cy="115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 Customer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729928" y="5876201"/>
            <a:ext cx="3060002" cy="841248"/>
            <a:chOff x="0" y="0"/>
            <a:chExt cx="4080002" cy="1121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80002" cy="1121664"/>
            </a:xfrm>
            <a:custGeom>
              <a:avLst/>
              <a:gdLst/>
              <a:ahLst/>
              <a:cxnLst/>
              <a:rect l="l" t="t" r="r" b="b"/>
              <a:pathLst>
                <a:path w="4080002" h="1121664">
                  <a:moveTo>
                    <a:pt x="0" y="224282"/>
                  </a:moveTo>
                  <a:cubicBezTo>
                    <a:pt x="0" y="100457"/>
                    <a:pt x="100457" y="0"/>
                    <a:pt x="224282" y="0"/>
                  </a:cubicBezTo>
                  <a:lnTo>
                    <a:pt x="3855720" y="0"/>
                  </a:lnTo>
                  <a:cubicBezTo>
                    <a:pt x="3979672" y="0"/>
                    <a:pt x="4080002" y="100457"/>
                    <a:pt x="4080002" y="224282"/>
                  </a:cubicBezTo>
                  <a:lnTo>
                    <a:pt x="4080002" y="897382"/>
                  </a:lnTo>
                  <a:cubicBezTo>
                    <a:pt x="4080002" y="1021334"/>
                    <a:pt x="3979545" y="1121664"/>
                    <a:pt x="3855720" y="1121664"/>
                  </a:cubicBezTo>
                  <a:lnTo>
                    <a:pt x="224282" y="1121664"/>
                  </a:lnTo>
                  <a:cubicBezTo>
                    <a:pt x="100457" y="1121664"/>
                    <a:pt x="0" y="1021207"/>
                    <a:pt x="0" y="897382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080002" cy="11597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0D1B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 Forecasting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7824" y="5239998"/>
            <a:ext cx="16400002" cy="560003"/>
            <a:chOff x="0" y="0"/>
            <a:chExt cx="21866670" cy="74667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1866667" cy="746667"/>
            </a:xfrm>
            <a:custGeom>
              <a:avLst/>
              <a:gdLst/>
              <a:ahLst/>
              <a:cxnLst/>
              <a:rect l="l" t="t" r="r" b="b"/>
              <a:pathLst>
                <a:path w="21866667" h="746667">
                  <a:moveTo>
                    <a:pt x="0" y="0"/>
                  </a:moveTo>
                  <a:lnTo>
                    <a:pt x="21866667" y="0"/>
                  </a:lnTo>
                  <a:lnTo>
                    <a:pt x="21866667" y="746667"/>
                  </a:lnTo>
                  <a:lnTo>
                    <a:pt x="0" y="74666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0633" b="-52063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21866670" cy="7942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Sections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7824" y="6999999"/>
            <a:ext cx="16400002" cy="1000001"/>
            <a:chOff x="0" y="0"/>
            <a:chExt cx="21866670" cy="13333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866667" cy="1333333"/>
            </a:xfrm>
            <a:custGeom>
              <a:avLst/>
              <a:gdLst/>
              <a:ahLst/>
              <a:cxnLst/>
              <a:rect l="l" t="t" r="r" b="b"/>
              <a:pathLst>
                <a:path w="21866667" h="1333333">
                  <a:moveTo>
                    <a:pt x="0" y="0"/>
                  </a:moveTo>
                  <a:lnTo>
                    <a:pt x="21866667" y="0"/>
                  </a:lnTo>
                  <a:lnTo>
                    <a:pt x="21866667" y="1333333"/>
                  </a:lnTo>
                  <a:lnTo>
                    <a:pt x="0" y="13333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9554" b="-269554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1866670" cy="1371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1809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Power BI reports covering KPIs, operational metrics, revenue trends, passenger insights, and predictive forecasting.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9507998"/>
            <a:ext cx="18288000" cy="779002"/>
            <a:chOff x="0" y="0"/>
            <a:chExt cx="24384000" cy="10386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4384000" cy="1038606"/>
            </a:xfrm>
            <a:custGeom>
              <a:avLst/>
              <a:gdLst/>
              <a:ahLst/>
              <a:cxnLst/>
              <a:rect l="l" t="t" r="r" b="b"/>
              <a:pathLst>
                <a:path w="24384000" h="1038606">
                  <a:moveTo>
                    <a:pt x="0" y="0"/>
                  </a:moveTo>
                  <a:lnTo>
                    <a:pt x="24384000" y="0"/>
                  </a:lnTo>
                  <a:lnTo>
                    <a:pt x="24384000" y="1038606"/>
                  </a:lnTo>
                  <a:lnTo>
                    <a:pt x="0" y="1038606"/>
                  </a:lnTo>
                  <a:close/>
                </a:path>
              </a:pathLst>
            </a:custGeom>
            <a:solidFill>
              <a:srgbClr val="1A2F5E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24384000" cy="1076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899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UK Train Rides  ·  Data Analytics Project  ·  Digital Egypt Pioneers Initiative 2025–2026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71707" cy="10312403"/>
            <a:chOff x="0" y="0"/>
            <a:chExt cx="228943" cy="137498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95072" cy="13715999"/>
            </a:xfrm>
            <a:custGeom>
              <a:avLst/>
              <a:gdLst/>
              <a:ahLst/>
              <a:cxnLst/>
              <a:rect l="l" t="t" r="r" b="b"/>
              <a:pathLst>
                <a:path w="195072" h="13715999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28854" cy="13749782"/>
            </a:xfrm>
            <a:custGeom>
              <a:avLst/>
              <a:gdLst/>
              <a:ahLst/>
              <a:cxnLst/>
              <a:rect l="l" t="t" r="r" b="b"/>
              <a:pathLst>
                <a:path w="228854" h="13749782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0080" y="1792224"/>
            <a:ext cx="10972800" cy="1005840"/>
            <a:chOff x="0" y="0"/>
            <a:chExt cx="146304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30400" cy="1341120"/>
            </a:xfrm>
            <a:custGeom>
              <a:avLst/>
              <a:gdLst/>
              <a:ahLst/>
              <a:cxnLst/>
              <a:rect l="l" t="t" r="r" b="b"/>
              <a:pathLst>
                <a:path w="14630400" h="1341120">
                  <a:moveTo>
                    <a:pt x="0" y="0"/>
                  </a:moveTo>
                  <a:lnTo>
                    <a:pt x="14630400" y="0"/>
                  </a:lnTo>
                  <a:lnTo>
                    <a:pt x="14630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2564" b="-16256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14630400" cy="14458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40"/>
                </a:lnSpc>
              </a:pPr>
              <a:r>
                <a:rPr lang="en-US" sz="5200" b="1" dirty="0">
                  <a:solidFill>
                    <a:srgbClr val="F5A62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Recommendations 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383" y="3187703"/>
            <a:ext cx="756923" cy="756923"/>
            <a:chOff x="0" y="0"/>
            <a:chExt cx="1009231" cy="10092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009269" cy="1009142"/>
            </a:xfrm>
            <a:custGeom>
              <a:avLst/>
              <a:gdLst/>
              <a:ahLst/>
              <a:cxnLst/>
              <a:rect l="l" t="t" r="r" b="b"/>
              <a:pathLst>
                <a:path w="1009269" h="100914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2D7D4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804672" y="3328416"/>
            <a:ext cx="420624" cy="420624"/>
            <a:chOff x="0" y="0"/>
            <a:chExt cx="560832" cy="560832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560832" cy="560832"/>
            </a:xfrm>
            <a:custGeom>
              <a:avLst/>
              <a:gdLst/>
              <a:ahLst/>
              <a:cxnLst/>
              <a:rect l="l" t="t" r="r" b="b"/>
              <a:pathLst>
                <a:path w="560832" h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645920" y="3145536"/>
            <a:ext cx="9784080" cy="1005840"/>
            <a:chOff x="0" y="0"/>
            <a:chExt cx="13045440" cy="13411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045439" cy="1341120"/>
            </a:xfrm>
            <a:custGeom>
              <a:avLst/>
              <a:gdLst/>
              <a:ahLst/>
              <a:cxnLst/>
              <a:rect l="l" t="t" r="r" b="b"/>
              <a:pathLst>
                <a:path w="13045439" h="1341120">
                  <a:moveTo>
                    <a:pt x="0" y="0"/>
                  </a:moveTo>
                  <a:lnTo>
                    <a:pt x="13045439" y="0"/>
                  </a:lnTo>
                  <a:lnTo>
                    <a:pt x="13045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536" b="-139536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3045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1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 (MS)" panose="020B0604020202020204" charset="0"/>
                  <a:cs typeface="Calibri (MS)" panose="020B0604020202020204" charset="0"/>
                </a:rPr>
                <a:t>Improve operational management during peak hours, especially during the Morning Peak period.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7383" y="4797047"/>
            <a:ext cx="756923" cy="756923"/>
            <a:chOff x="0" y="0"/>
            <a:chExt cx="1009231" cy="1009231"/>
          </a:xfrm>
        </p:grpSpPr>
        <p:sp>
          <p:nvSpPr>
            <p:cNvPr id="20" name="Freeform 20"/>
            <p:cNvSpPr/>
            <p:nvPr/>
          </p:nvSpPr>
          <p:spPr>
            <a:xfrm>
              <a:off x="16891" y="16891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009269" cy="1009142"/>
            </a:xfrm>
            <a:custGeom>
              <a:avLst/>
              <a:gdLst/>
              <a:ahLst/>
              <a:cxnLst/>
              <a:rect l="l" t="t" r="r" b="b"/>
              <a:pathLst>
                <a:path w="1009269" h="100914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4BBFAD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804672" y="4937760"/>
            <a:ext cx="420624" cy="420624"/>
            <a:chOff x="0" y="0"/>
            <a:chExt cx="560832" cy="560832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560832" cy="560832"/>
            </a:xfrm>
            <a:custGeom>
              <a:avLst/>
              <a:gdLst/>
              <a:ahLst/>
              <a:cxnLst/>
              <a:rect l="l" t="t" r="r" b="b"/>
              <a:pathLst>
                <a:path w="560832" h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645920" y="4754880"/>
            <a:ext cx="9784080" cy="1046504"/>
            <a:chOff x="0" y="0"/>
            <a:chExt cx="13045440" cy="139533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045439" cy="1395338"/>
            </a:xfrm>
            <a:custGeom>
              <a:avLst/>
              <a:gdLst/>
              <a:ahLst/>
              <a:cxnLst/>
              <a:rect l="l" t="t" r="r" b="b"/>
              <a:pathLst>
                <a:path w="13045439" h="1395338">
                  <a:moveTo>
                    <a:pt x="0" y="0"/>
                  </a:moveTo>
                  <a:lnTo>
                    <a:pt x="13045439" y="0"/>
                  </a:lnTo>
                  <a:lnTo>
                    <a:pt x="13045439" y="1395338"/>
                  </a:lnTo>
                  <a:lnTo>
                    <a:pt x="0" y="1395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4114" b="-130228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3045440" cy="1442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chemeClr val="bg1"/>
                  </a:solidFill>
                  <a:latin typeface="Calibri (MS)" panose="020B0604020202020204" charset="0"/>
                  <a:cs typeface="Calibri (MS)" panose="020B0604020202020204" charset="0"/>
                </a:rPr>
                <a:t>Reduce technical issues by enhancing preventive maintenance strategies.</a:t>
              </a:r>
              <a:endParaRPr lang="en-US" sz="2100" dirty="0">
                <a:solidFill>
                  <a:schemeClr val="bg1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endParaRPr>
            </a:p>
            <a:p>
              <a:pPr algn="l">
                <a:lnSpc>
                  <a:spcPts val="2520"/>
                </a:lnSpc>
              </a:pPr>
              <a:endParaRPr lang="en-US" sz="2100" dirty="0">
                <a:solidFill>
                  <a:srgbClr val="D4E0F5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7383" y="6406391"/>
            <a:ext cx="756923" cy="756923"/>
            <a:chOff x="0" y="0"/>
            <a:chExt cx="1009231" cy="100923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009269" cy="1009142"/>
            </a:xfrm>
            <a:custGeom>
              <a:avLst/>
              <a:gdLst/>
              <a:ahLst/>
              <a:cxnLst/>
              <a:rect l="l" t="t" r="r" b="b"/>
              <a:pathLst>
                <a:path w="1009269" h="100914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8B5CF6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804672" y="6547104"/>
            <a:ext cx="420624" cy="420624"/>
            <a:chOff x="0" y="0"/>
            <a:chExt cx="560832" cy="560832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560832" cy="560832"/>
            </a:xfrm>
            <a:custGeom>
              <a:avLst/>
              <a:gdLst/>
              <a:ahLst/>
              <a:cxnLst/>
              <a:rect l="l" t="t" r="r" b="b"/>
              <a:pathLst>
                <a:path w="560832" h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645920" y="6364224"/>
            <a:ext cx="9784080" cy="1005840"/>
            <a:chOff x="0" y="0"/>
            <a:chExt cx="13045440" cy="1341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045439" cy="1341120"/>
            </a:xfrm>
            <a:custGeom>
              <a:avLst/>
              <a:gdLst/>
              <a:ahLst/>
              <a:cxnLst/>
              <a:rect l="l" t="t" r="r" b="b"/>
              <a:pathLst>
                <a:path w="13045439" h="1341120">
                  <a:moveTo>
                    <a:pt x="0" y="0"/>
                  </a:moveTo>
                  <a:lnTo>
                    <a:pt x="13045439" y="0"/>
                  </a:lnTo>
                  <a:lnTo>
                    <a:pt x="13045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536" b="-13953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3045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chemeClr val="bg1"/>
                  </a:solidFill>
                  <a:latin typeface="Calibri (MS)" panose="020B0604020202020204" charset="0"/>
                  <a:cs typeface="Calibri (MS)" panose="020B0604020202020204" charset="0"/>
                </a:rPr>
                <a:t>Improve resource allocation and staffing management during high-demand periods.</a:t>
              </a:r>
              <a:endParaRPr lang="en-US" sz="2100" dirty="0">
                <a:solidFill>
                  <a:schemeClr val="bg1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7383" y="8015735"/>
            <a:ext cx="756923" cy="756923"/>
            <a:chOff x="0" y="0"/>
            <a:chExt cx="1009231" cy="1009231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975360" cy="975360"/>
            </a:xfrm>
            <a:custGeom>
              <a:avLst/>
              <a:gdLst/>
              <a:ahLst/>
              <a:cxnLst/>
              <a:rect l="l" t="t" r="r" b="b"/>
              <a:pathLst>
                <a:path w="975360" h="97536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cubicBezTo>
                    <a:pt x="757047" y="0"/>
                    <a:pt x="975360" y="218313"/>
                    <a:pt x="975360" y="487680"/>
                  </a:cubicBezTo>
                  <a:cubicBezTo>
                    <a:pt x="975360" y="757047"/>
                    <a:pt x="757047" y="975360"/>
                    <a:pt x="487680" y="975360"/>
                  </a:cubicBezTo>
                  <a:cubicBezTo>
                    <a:pt x="218313" y="975360"/>
                    <a:pt x="0" y="757047"/>
                    <a:pt x="0" y="487680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009269" cy="1009142"/>
            </a:xfrm>
            <a:custGeom>
              <a:avLst/>
              <a:gdLst/>
              <a:ahLst/>
              <a:cxnLst/>
              <a:rect l="l" t="t" r="r" b="b"/>
              <a:pathLst>
                <a:path w="1009269" h="1009142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lnTo>
                    <a:pt x="504571" y="16891"/>
                  </a:lnTo>
                  <a:lnTo>
                    <a:pt x="504571" y="0"/>
                  </a:lnTo>
                  <a:cubicBezTo>
                    <a:pt x="783336" y="0"/>
                    <a:pt x="1009269" y="225933"/>
                    <a:pt x="1009269" y="504571"/>
                  </a:cubicBezTo>
                  <a:lnTo>
                    <a:pt x="992251" y="504571"/>
                  </a:lnTo>
                  <a:lnTo>
                    <a:pt x="1009142" y="504571"/>
                  </a:lnTo>
                  <a:cubicBezTo>
                    <a:pt x="1009142" y="783209"/>
                    <a:pt x="783209" y="1009142"/>
                    <a:pt x="504571" y="1009142"/>
                  </a:cubicBezTo>
                  <a:lnTo>
                    <a:pt x="504571" y="992251"/>
                  </a:lnTo>
                  <a:lnTo>
                    <a:pt x="504571" y="1009142"/>
                  </a:lnTo>
                  <a:cubicBezTo>
                    <a:pt x="225933" y="1009269"/>
                    <a:pt x="0" y="783336"/>
                    <a:pt x="0" y="504571"/>
                  </a:cubicBezTo>
                  <a:lnTo>
                    <a:pt x="16891" y="50457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0" y="504571"/>
                  </a:lnTo>
                  <a:moveTo>
                    <a:pt x="33909" y="504571"/>
                  </a:moveTo>
                  <a:cubicBezTo>
                    <a:pt x="33909" y="513969"/>
                    <a:pt x="26289" y="521462"/>
                    <a:pt x="17018" y="521462"/>
                  </a:cubicBezTo>
                  <a:cubicBezTo>
                    <a:pt x="7747" y="521462"/>
                    <a:pt x="0" y="513969"/>
                    <a:pt x="0" y="504571"/>
                  </a:cubicBezTo>
                  <a:cubicBezTo>
                    <a:pt x="0" y="495173"/>
                    <a:pt x="7620" y="487680"/>
                    <a:pt x="16891" y="487680"/>
                  </a:cubicBezTo>
                  <a:cubicBezTo>
                    <a:pt x="26162" y="487680"/>
                    <a:pt x="33782" y="495300"/>
                    <a:pt x="33782" y="504571"/>
                  </a:cubicBezTo>
                  <a:cubicBezTo>
                    <a:pt x="33782" y="764540"/>
                    <a:pt x="244602" y="975360"/>
                    <a:pt x="504571" y="975360"/>
                  </a:cubicBezTo>
                  <a:cubicBezTo>
                    <a:pt x="764540" y="975360"/>
                    <a:pt x="975360" y="764540"/>
                    <a:pt x="975360" y="504571"/>
                  </a:cubicBezTo>
                  <a:cubicBezTo>
                    <a:pt x="975360" y="244602"/>
                    <a:pt x="764540" y="33782"/>
                    <a:pt x="504571" y="33782"/>
                  </a:cubicBezTo>
                  <a:lnTo>
                    <a:pt x="504571" y="16891"/>
                  </a:lnTo>
                  <a:lnTo>
                    <a:pt x="504571" y="33909"/>
                  </a:lnTo>
                  <a:cubicBezTo>
                    <a:pt x="244602" y="33909"/>
                    <a:pt x="33782" y="244729"/>
                    <a:pt x="33782" y="504698"/>
                  </a:cubicBez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04672" y="8156448"/>
            <a:ext cx="420624" cy="420624"/>
            <a:chOff x="0" y="0"/>
            <a:chExt cx="560832" cy="560832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560832" cy="560832"/>
            </a:xfrm>
            <a:custGeom>
              <a:avLst/>
              <a:gdLst/>
              <a:ahLst/>
              <a:cxnLst/>
              <a:rect l="l" t="t" r="r" b="b"/>
              <a:pathLst>
                <a:path w="560832" h="560832">
                  <a:moveTo>
                    <a:pt x="0" y="0"/>
                  </a:moveTo>
                  <a:lnTo>
                    <a:pt x="560832" y="0"/>
                  </a:lnTo>
                  <a:lnTo>
                    <a:pt x="560832" y="560832"/>
                  </a:lnTo>
                  <a:lnTo>
                    <a:pt x="0" y="560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645920" y="7973568"/>
            <a:ext cx="9784080" cy="1005840"/>
            <a:chOff x="0" y="0"/>
            <a:chExt cx="13045440" cy="134112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045439" cy="1341120"/>
            </a:xfrm>
            <a:custGeom>
              <a:avLst/>
              <a:gdLst/>
              <a:ahLst/>
              <a:cxnLst/>
              <a:rect l="l" t="t" r="r" b="b"/>
              <a:pathLst>
                <a:path w="13045439" h="1341120">
                  <a:moveTo>
                    <a:pt x="0" y="0"/>
                  </a:moveTo>
                  <a:lnTo>
                    <a:pt x="13045439" y="0"/>
                  </a:lnTo>
                  <a:lnTo>
                    <a:pt x="130454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536" b="-139536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304544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dirty="0">
                  <a:solidFill>
                    <a:schemeClr val="bg1"/>
                  </a:solidFill>
                  <a:latin typeface="Calibri (MS)" panose="020B0604020202020204" charset="0"/>
                  <a:cs typeface="Calibri (MS)" panose="020B0604020202020204" charset="0"/>
                </a:rPr>
                <a:t>Continuously use forecasting insights to improve future planning and operational efficiency.</a:t>
              </a:r>
              <a:endParaRPr lang="en-US" sz="2100" dirty="0">
                <a:solidFill>
                  <a:schemeClr val="bg1"/>
                </a:solidFill>
                <a:latin typeface="Calibri (MS)" panose="020B0604020202020204" charset="0"/>
                <a:ea typeface="Calibri (MS)"/>
                <a:cs typeface="Calibri (MS)" panose="020B0604020202020204" charset="0"/>
                <a:sym typeface="Calibri (MS)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7383" y="9222743"/>
            <a:ext cx="10815323" cy="793499"/>
            <a:chOff x="0" y="0"/>
            <a:chExt cx="14420431" cy="1057999"/>
          </a:xfrm>
        </p:grpSpPr>
        <p:sp>
          <p:nvSpPr>
            <p:cNvPr id="44" name="Freeform 44"/>
            <p:cNvSpPr/>
            <p:nvPr/>
          </p:nvSpPr>
          <p:spPr>
            <a:xfrm>
              <a:off x="16891" y="16891"/>
              <a:ext cx="14386560" cy="1024128"/>
            </a:xfrm>
            <a:custGeom>
              <a:avLst/>
              <a:gdLst/>
              <a:ahLst/>
              <a:cxnLst/>
              <a:rect l="l" t="t" r="r" b="b"/>
              <a:pathLst>
                <a:path w="14386560" h="1024128">
                  <a:moveTo>
                    <a:pt x="0" y="0"/>
                  </a:moveTo>
                  <a:lnTo>
                    <a:pt x="14386560" y="0"/>
                  </a:lnTo>
                  <a:lnTo>
                    <a:pt x="1438656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F5A623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0"/>
              <a:ext cx="14420343" cy="1057912"/>
            </a:xfrm>
            <a:custGeom>
              <a:avLst/>
              <a:gdLst/>
              <a:ahLst/>
              <a:cxnLst/>
              <a:rect l="l" t="t" r="r" b="b"/>
              <a:pathLst>
                <a:path w="14420343" h="1057912">
                  <a:moveTo>
                    <a:pt x="16891" y="0"/>
                  </a:moveTo>
                  <a:lnTo>
                    <a:pt x="14403451" y="0"/>
                  </a:lnTo>
                  <a:cubicBezTo>
                    <a:pt x="14412849" y="0"/>
                    <a:pt x="14420343" y="7620"/>
                    <a:pt x="14420343" y="16891"/>
                  </a:cubicBezTo>
                  <a:lnTo>
                    <a:pt x="14420343" y="1041019"/>
                  </a:lnTo>
                  <a:cubicBezTo>
                    <a:pt x="14420343" y="1050417"/>
                    <a:pt x="14412723" y="1057910"/>
                    <a:pt x="1440345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4403451" y="1024128"/>
                  </a:lnTo>
                  <a:lnTo>
                    <a:pt x="14403451" y="1041019"/>
                  </a:lnTo>
                  <a:lnTo>
                    <a:pt x="14386561" y="1041019"/>
                  </a:lnTo>
                  <a:lnTo>
                    <a:pt x="14386561" y="16891"/>
                  </a:lnTo>
                  <a:lnTo>
                    <a:pt x="14403451" y="16891"/>
                  </a:lnTo>
                  <a:lnTo>
                    <a:pt x="144034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A623"/>
            </a:solidFill>
          </p:spPr>
        </p:sp>
      </p:grpSp>
      <p:grpSp>
        <p:nvGrpSpPr>
          <p:cNvPr id="46" name="Group 46"/>
          <p:cNvGrpSpPr/>
          <p:nvPr/>
        </p:nvGrpSpPr>
        <p:grpSpPr>
          <a:xfrm>
            <a:off x="640080" y="9235440"/>
            <a:ext cx="10789920" cy="768096"/>
            <a:chOff x="0" y="0"/>
            <a:chExt cx="14386560" cy="10241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4386561" cy="1024128"/>
            </a:xfrm>
            <a:custGeom>
              <a:avLst/>
              <a:gdLst/>
              <a:ahLst/>
              <a:cxnLst/>
              <a:rect l="l" t="t" r="r" b="b"/>
              <a:pathLst>
                <a:path w="14386561" h="1024128">
                  <a:moveTo>
                    <a:pt x="0" y="0"/>
                  </a:moveTo>
                  <a:lnTo>
                    <a:pt x="14386561" y="0"/>
                  </a:lnTo>
                  <a:lnTo>
                    <a:pt x="14386561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718" b="-223718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438656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A2F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|  Digital Egypt Pioneers Initiative  |  2025–2026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264640" y="9144000"/>
            <a:ext cx="914400" cy="914400"/>
            <a:chOff x="0" y="0"/>
            <a:chExt cx="1219200" cy="1219200"/>
          </a:xfrm>
        </p:grpSpPr>
        <p:sp>
          <p:nvSpPr>
            <p:cNvPr id="50" name="Freeform 50" descr="preencoded.png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40000"/>
              </a:blip>
              <a:stretch>
                <a:fillRect/>
              </a:stretch>
            </a:blipFill>
          </p:spPr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0B5BF4EF-72B9-4AFA-8CD2-B199B7186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416</Words>
  <Application>Microsoft Office PowerPoint</Application>
  <PresentationFormat>Custom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(MS) Bold</vt:lpstr>
      <vt:lpstr>Calibri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UK_Train_Rides_Updated (2).pptx</dc:title>
  <cp:lastModifiedBy>Farah Nagy</cp:lastModifiedBy>
  <cp:revision>5</cp:revision>
  <dcterms:created xsi:type="dcterms:W3CDTF">2006-08-16T00:00:00Z</dcterms:created>
  <dcterms:modified xsi:type="dcterms:W3CDTF">2026-05-15T18:51:27Z</dcterms:modified>
  <dc:identifier>DAHJuV9VZaA</dc:identifier>
</cp:coreProperties>
</file>